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122523bc604ef1" /><Relationship Type="http://schemas.openxmlformats.org/officeDocument/2006/relationships/extended-properties" Target="/docProps/app.xml" Id="Rd48664bc1dcb4944" /><Relationship Type="http://schemas.openxmlformats.org/officeDocument/2006/relationships/officeDocument" Target="/ppt/presentation.xml" Id="R9239f11da45f40b3" /></Relationships>
</file>

<file path=ppt/presentation.xml><?xml version="1.0" encoding="utf-8"?>
<p:presentation xmlns:p="http://schemas.openxmlformats.org/presentationml/2006/main">
  <p:sldMasterIdLst>
    <p:sldMasterId xmlns:r="http://schemas.openxmlformats.org/officeDocument/2006/relationships" id="2147483648" r:id="Rff999c658cff4a9d"/>
  </p:sldMasterIdLst>
  <p:notesMasterIdLst>
    <p:notesMasterId xmlns:r="http://schemas.openxmlformats.org/officeDocument/2006/relationships" r:id="R2576f296651b4fcf"/>
  </p:notesMasterIdLst>
  <p:sldIdLst>
    <p:sldId xmlns:r="http://schemas.openxmlformats.org/officeDocument/2006/relationships" id="256" r:id="Rd63c989acbdb4322"/>
    <p:sldId xmlns:r="http://schemas.openxmlformats.org/officeDocument/2006/relationships" id="257" r:id="Rcf7b40614fab4e71"/>
    <p:sldId xmlns:r="http://schemas.openxmlformats.org/officeDocument/2006/relationships" id="258" r:id="R17a0d76613594272"/>
    <p:sldId xmlns:r="http://schemas.openxmlformats.org/officeDocument/2006/relationships" id="259" r:id="R7d7f6896e0bf42a5"/>
    <p:sldId xmlns:r="http://schemas.openxmlformats.org/officeDocument/2006/relationships" id="260" r:id="R1f58b88945484f5e"/>
    <p:sldId xmlns:r="http://schemas.openxmlformats.org/officeDocument/2006/relationships" id="261" r:id="R80101136e61b43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1670e7eed840b3" /><Relationship Type="http://schemas.openxmlformats.org/officeDocument/2006/relationships/slideMaster" Target="/ppt/slideMasters/slideMaster1.xml" Id="Rff999c658cff4a9d" /><Relationship Type="http://schemas.openxmlformats.org/officeDocument/2006/relationships/notesMaster" Target="/ppt/notesMasters/notesMaster1.xml" Id="R2576f296651b4fcf" /><Relationship Type="http://schemas.openxmlformats.org/officeDocument/2006/relationships/presProps" Target="/ppt/presProps.xml" Id="R1b965304c871476f" /><Relationship Type="http://schemas.openxmlformats.org/officeDocument/2006/relationships/tableStyles" Target="/ppt/tableStyles.xml" Id="R53e57b7cfb88422c" /><Relationship Type="http://schemas.openxmlformats.org/officeDocument/2006/relationships/slide" Target="/ppt/slides/slide1.xml" Id="Rd63c989acbdb4322" /><Relationship Type="http://schemas.openxmlformats.org/officeDocument/2006/relationships/slide" Target="/ppt/slides/slide2.xml" Id="Rcf7b40614fab4e71" /><Relationship Type="http://schemas.openxmlformats.org/officeDocument/2006/relationships/slide" Target="/ppt/slides/slide3.xml" Id="R17a0d76613594272" /><Relationship Type="http://schemas.openxmlformats.org/officeDocument/2006/relationships/slide" Target="/ppt/slides/slide4.xml" Id="R7d7f6896e0bf42a5" /><Relationship Type="http://schemas.openxmlformats.org/officeDocument/2006/relationships/slide" Target="/ppt/slides/slide5.xml" Id="R1f58b88945484f5e" /><Relationship Type="http://schemas.openxmlformats.org/officeDocument/2006/relationships/slide" Target="/ppt/slides/slide6.xml" Id="R80101136e61b43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0588f38c745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551ff3070c24454" /><Relationship Type="http://schemas.openxmlformats.org/officeDocument/2006/relationships/notesMaster" Target="/ppt/notesMasters/notesMaster1.xml" Id="Rb17d7a2f55684e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46018661548ad" /><Relationship Type="http://schemas.openxmlformats.org/officeDocument/2006/relationships/notesMaster" Target="/ppt/notesMasters/notesMaster1.xml" Id="R60f1887d8fdd42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f78ce06c64d84" /><Relationship Type="http://schemas.openxmlformats.org/officeDocument/2006/relationships/notesMaster" Target="/ppt/notesMasters/notesMaster1.xml" Id="Rcf21e609b4e34d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d270c4c4814bca" /><Relationship Type="http://schemas.openxmlformats.org/officeDocument/2006/relationships/notesMaster" Target="/ppt/notesMasters/notesMaster1.xml" Id="Rae5d03a608234f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a57538a0084aa1" /><Relationship Type="http://schemas.openxmlformats.org/officeDocument/2006/relationships/notesMaster" Target="/ppt/notesMasters/notesMaster1.xml" Id="R9e8cb5a23fbe43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cb9c98d777b4a67" /><Relationship Type="http://schemas.openxmlformats.org/officeDocument/2006/relationships/notesMaster" Target="/ppt/notesMasters/notesMaster1.xml" Id="Ra74584a544e04b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Abertura, cerca de 15 segundos. O SmartScrap conecta quem oferece sucata industrial a organizações que podem reaproveitar esses materiais. O dashboard pertence à organização e pode ser acompanhado por vários usuários. A tela usa dados fictícios de demonstração, sem representar clientes ou resultados reais. Fonte da imagem: captura local do SmartScrap, docs/hackathon-dashboard.png, 14/10/2026.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Cerca de 25 segundos. O Instituto Aço Brasil informa 7,7 milhões de toneladas recicladas em 2023, sendo 5,3 milhões de sucata externa e 2,4 milhões de sucata interna. O recorte é das empresas associadas, não um censo de todo o país. Esses valores mostram a escala do uso industrial e não estimam desperdício, clientes potenciais ou o mercado capturável pelo projeto. Fonte: https://www.acobrasil.org.br/site/wp-content/uploads/2022/08/Folder_AcoBrasil_Sustentabilidade_2024.pdf, páginas impressas 7 e 10, publicado em 2024, dados de 2023, consultado em 14/10/2026. A worldsteel estima evitar 1,5 t de CO2 por tonelada de sucata utilizada na produção de aço. É uma referência setorial, não uma medição de impacto do SmartScrap. Fonte: https://worldsteel.org/about-steel/raw-materials/, seção Scrap, consultado em 14/10/2026.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Cerca de 25 segundos. Começamos pela organização, não por uma conta isolada. O anúncio reúne material, peso, preço e fotos opcionais. O comprador envia uma proposta e o vendedor aceita. Antes de iniciar a coleta, comprador ou vendedor escolhe uma empresa responsável, que pode ser uma transportadora ou a própria organização de uma das partes. O ciclo segue até a entrega. Fluxo implementado no protótipo local em 14/10/2026. Contas, lotes e valores mostrados na demonstração são fictícios.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Cerca de 25 segundos. O DeepLabV3+ roda localmente em CPU, com checkpoint oficial e backbone ResNet101. A saída é experimental e representa classes de pixels da imagem inteira, incluindo o fundo. Fundo e metal em bom estado compartilham uma classe. O resultado não mede pureza química, massa contaminada ou acurácia. O operador pode discordar e explicar o motivo, preservando a saída original. Modelo: https://github.com/beric7/corrosion_cs_classification. Captura local: docs/visual-analysis-preview.png. A fotografia do exemplo veio da Figura 2 do artigo Classification and rating of steel scrap using deep learning, DOI 10.1016/j.engappai.2023.106241, fornecido pelo usuário. As três fotos testadas são variantes de iluminação da mesma cena, não três lotes reais independentes. Não há validação quantitativa em campo ou máscaras de referência para essas fotos.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Cerca de 20 segundos. O responsável pelo transporte pode ser definido por qualquer parte da negociação. Há opção de transportadora cadastrada ou frota própria de vendedor ou comprador. A Exemplo Transporters LTDA é fictícia e foi cadastrada para a demonstração. O sistema registra a associação e acompanha as etapas; ele ainda não contrata frete, não cobra por transporte e não oferece rastreamento por GPS. Frete, prazos e condições são combinados pelas partes. Fonte da imagem: captura local do SmartScrap, docs/hackathon-transporte.png, 14/10/2026.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Fechamento, cerca de 15 segundos. O hackathon apresenta um protótipo funcional com dados fictícios. Buscamos empresas da região e especialistas em materiais para um piloto futuro. Queremos validar a avaliação visual em fotos reais e acompanhar tempo até proposta, volume negociado e conclusão de coletas. Ainda não temos clientes, economia financeira, redução de resíduos ou emissões comprovadas atribuíveis à plataforma. Os preços de exemplo são fictícios e não são cotações regionais.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99f918abdc4d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8f1dea0c8e4e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96247319664c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b988b31d0ec4a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d4457d195f74e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8a357a131641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DCBAAF-393B-4141-8064-BDE9FC0F526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67E324-542F-4615-859D-1FFFC9D628B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E2E9CA-EED5-4B86-B206-B3407B64A50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F35F9-3522-4E1D-B862-C3D4E61F7C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7B595CF-2D7C-4557-A642-FE2DD2E6C2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FE325C-EC6D-47B8-A0F4-1F449C5CDD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F289AE-CE55-40D7-83BD-4FDB3D0A04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DC2C89-A79F-4C7F-8E77-80B05CBAD66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0A6953-5EB5-4C40-8904-FDA5D26F83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E78026-30EF-433D-AA15-77FD0D9210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b581ce87214171" /><Relationship Type="http://schemas.openxmlformats.org/officeDocument/2006/relationships/slideLayout" Target="/ppt/slideLayouts/slideLayout1.xml" Id="Re91af7035c2f4a27" /><Relationship Type="http://schemas.openxmlformats.org/officeDocument/2006/relationships/slideLayout" Target="/ppt/slideLayouts/slideLayout2.xml" Id="R9193f490c7e74513" /><Relationship Type="http://schemas.openxmlformats.org/officeDocument/2006/relationships/slideLayout" Target="/ppt/slideLayouts/slideLayout3.xml" Id="R9653a343b8704f52" /><Relationship Type="http://schemas.openxmlformats.org/officeDocument/2006/relationships/slideLayout" Target="/ppt/slideLayouts/slideLayout4.xml" Id="R03d31036615649bf" /><Relationship Type="http://schemas.openxmlformats.org/officeDocument/2006/relationships/slideLayout" Target="/ppt/slideLayouts/slideLayout5.xml" Id="R67e19b616306462f" /><Relationship Type="http://schemas.openxmlformats.org/officeDocument/2006/relationships/slideLayout" Target="/ppt/slideLayouts/slideLayout6.xml" Id="Rc88a61975a634e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91af7035c2f4a27"/>
    <p:sldLayoutId xmlns:r="http://schemas.openxmlformats.org/officeDocument/2006/relationships" id="2147483650" r:id="R9193f490c7e74513"/>
    <p:sldLayoutId xmlns:r="http://schemas.openxmlformats.org/officeDocument/2006/relationships" id="2147483651" r:id="R9653a343b8704f52"/>
    <p:sldLayoutId xmlns:r="http://schemas.openxmlformats.org/officeDocument/2006/relationships" id="2147483652" r:id="R03d31036615649bf"/>
    <p:sldLayoutId xmlns:r="http://schemas.openxmlformats.org/officeDocument/2006/relationships" id="2147483653" r:id="R67e19b616306462f"/>
    <p:sldLayoutId xmlns:r="http://schemas.openxmlformats.org/officeDocument/2006/relationships" id="2147483654" r:id="Rc88a61975a634e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870ee2787c4f6f" /><Relationship Type="http://schemas.openxmlformats.org/officeDocument/2006/relationships/image" Target="/ppt/media/image.jpeg" Id="Rcec773af75c54a9f" /><Relationship Type="http://schemas.openxmlformats.org/officeDocument/2006/relationships/notesSlide" Target="/ppt/notesSlides/notesSlide1.xml" Id="R21b835e65e2b48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105193977049da" /><Relationship Type="http://schemas.openxmlformats.org/officeDocument/2006/relationships/chart" Target="/ppt/slides/charts/chart1.xml" Id="R998124d529714544" /><Relationship Type="http://schemas.openxmlformats.org/officeDocument/2006/relationships/notesSlide" Target="/ppt/notesSlides/notesSlide2.xml" Id="Ra64f95d06eae4a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03e415f485d41d2" /><Relationship Type="http://schemas.openxmlformats.org/officeDocument/2006/relationships/notesSlide" Target="/ppt/notesSlides/notesSlide3.xml" Id="R68bde3ddb0ba43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159504db6241a5" /><Relationship Type="http://schemas.openxmlformats.org/officeDocument/2006/relationships/image" Target="/ppt/media/image2.jpeg" Id="R9c320f0d47124cfe" /><Relationship Type="http://schemas.openxmlformats.org/officeDocument/2006/relationships/notesSlide" Target="/ppt/notesSlides/notesSlide4.xml" Id="R019419f9cdd34c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158581de0b4cab" /><Relationship Type="http://schemas.openxmlformats.org/officeDocument/2006/relationships/image" Target="/ppt/media/image3.jpeg" Id="R194241d69e514630" /><Relationship Type="http://schemas.openxmlformats.org/officeDocument/2006/relationships/notesSlide" Target="/ppt/notesSlides/notesSlide5.xml" Id="R1c5368c8f96845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c20c4687de446b" /><Relationship Type="http://schemas.openxmlformats.org/officeDocument/2006/relationships/notesSlide" Target="/ppt/notesSlides/notesSlide6.xml" Id="Rb40e3fbe76e54f0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Milhões de toneladas</c:v>
          </c:tx>
          <c:spPr>
            <a:solidFill xmlns:a="http://schemas.openxmlformats.org/drawingml/2006/main">
              <a:srgbClr val="078563"/>
            </a:solidFill>
          </c:spPr>
          <c:invertIfNegative val="0"/>
          <c:dLbls>
            <c:dLbl>
              <c:idx val="0"/>
              <c:tx>
                <c:rich>
                  <a:bodyPr xmlns:a="http://schemas.openxmlformats.org/drawingml/2006/main"/>
                  <a:lstStyle xmlns:a="http://schemas.openxmlformats.org/drawingml/2006/main"/>
                  <a:p xmlns:a="http://schemas.openxmlformats.org/drawingml/2006/main">
                    <a:r>
                      <a:rPr sz="1950">
                        <a:solidFill>
                          <a:srgbClr val="203D30"/>
                        </a:solidFill>
                        <a:latin typeface="Segoe UI"/>
                        <a:ea typeface="Segoe UI"/>
                        <a:cs typeface="Segoe UI"/>
                      </a:rPr>
                      <a:t>5,3</a:t>
                    </a:r>
                  </a:p>
                </c:rich>
              </c:tx>
              <c:txPr>
                <a:bodyPr xmlns:a="http://schemas.openxmlformats.org/drawingml/2006/main" anchorCtr="1"/>
                <a:lstStyle xmlns:a="http://schemas.openxmlformats.org/drawingml/2006/main"/>
                <a:p xmlns:a="http://schemas.openxmlformats.org/drawingml/2006/main">
                  <a:pPr>
                    <a:defRPr sz="1950">
                      <a:solidFill>
                        <a:srgbClr val="203D30"/>
                      </a:solidFill>
                      <a:latin typeface="Segoe UI"/>
                      <a:ea typeface="Segoe UI"/>
                      <a:cs typeface="Segoe UI"/>
                    </a:defRPr>
                  </a:pPr>
                </a:p>
              </c:txPr>
              <c:dLblPos val="outEnd"/>
            </c:dLbl>
            <c:dLbl>
              <c:idx val="1"/>
              <c:tx>
                <c:rich>
                  <a:bodyPr xmlns:a="http://schemas.openxmlformats.org/drawingml/2006/main"/>
                  <a:lstStyle xmlns:a="http://schemas.openxmlformats.org/drawingml/2006/main"/>
                  <a:p xmlns:a="http://schemas.openxmlformats.org/drawingml/2006/main">
                    <a:r>
                      <a:rPr sz="1950">
                        <a:solidFill>
                          <a:srgbClr val="203D30"/>
                        </a:solidFill>
                        <a:latin typeface="Segoe UI"/>
                        <a:ea typeface="Segoe UI"/>
                        <a:cs typeface="Segoe UI"/>
                      </a:rPr>
                      <a:t>2,4</a:t>
                    </a:r>
                  </a:p>
                </c:rich>
              </c:tx>
              <c:txPr>
                <a:bodyPr xmlns:a="http://schemas.openxmlformats.org/drawingml/2006/main" anchorCtr="1"/>
                <a:lstStyle xmlns:a="http://schemas.openxmlformats.org/drawingml/2006/main"/>
                <a:p xmlns:a="http://schemas.openxmlformats.org/drawingml/2006/main">
                  <a:pPr>
                    <a:defRPr sz="1950">
                      <a:solidFill>
                        <a:srgbClr val="203D30"/>
                      </a:solidFill>
                      <a:latin typeface="Segoe UI"/>
                      <a:ea typeface="Segoe UI"/>
                      <a:cs typeface="Segoe UI"/>
                    </a:defRPr>
                  </a:pPr>
                </a:p>
              </c:txPr>
              <c:dLblPos val="outEnd"/>
            </c:dLbl>
          </c:dLbls>
          <c:cat>
            <c:strRef>
              <c:f>'Chart Data'!$A$2:$A$3</c:f>
              <c:strCache>
                <c:ptCount val="2"/>
                <c:pt idx="0">
                  <c:v>Sucata externa</c:v>
                </c:pt>
                <c:pt idx="1">
                  <c:v>Sucata interna</c:v>
                </c:pt>
              </c:strCache>
            </c:strRef>
          </c:cat>
          <c:val>
            <c:numRef>
              <c:f>'Chart Data'!$B$2:$B$3</c:f>
              <c:numCache>
                <c:formatCode>General</c:formatCode>
                <c:ptCount val="2"/>
                <c:pt idx="0">
                  <c:v>5.3</c:v>
                </c:pt>
                <c:pt idx="1">
                  <c:v>2.4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950" b="1">
                  <a:solidFill>
                    <a:srgbClr val="203D30"/>
                  </a:solidFill>
                  <a:latin typeface="Segoe UI"/>
                  <a:ea typeface="Segoe UI"/>
                  <a:cs typeface="Segoe UI"/>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203D30"/>
                </a:solidFill>
                <a:latin typeface="Segoe UI"/>
                <a:ea typeface="Segoe UI"/>
                <a:cs typeface="Segoe UI"/>
              </a:defRPr>
            </a:pPr>
          </a:p>
        </c:txPr>
        <c:crossAx val="48672768"/>
      </c:catAx>
      <c:valAx>
        <c:axId val="48672768"/>
        <c:scaling>
          <c:orientation val="minMax"/>
          <c:max val="6"/>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3C33"/>
        </a:solidFill>
      </p:bgPr>
    </p:bg>
    <p:spTree>
      <p:nvGrpSpPr>
        <p:cNvPr id="1" name=""/>
        <p:cNvGrpSpPr/>
        <p:nvPr/>
      </p:nvGrpSpPr>
      <p:grpSpPr>
        <a:xfrm xmlns:a="http://schemas.openxmlformats.org/drawingml/2006/main"/>
      </p:grpSpPr>
      <p:sp>
        <p:nvSpPr>
          <p:cNvPr id="6" name="SmartScrap">
            <a:extLst xmlns:a="http://schemas.openxmlformats.org/drawingml/2006/main">
              <a:ext uri="{FF2B5EF4-FFF2-40B4-BE49-F238E27FC236}">
                <a16:creationId xmlns:a16="http://schemas.microsoft.com/office/drawing/2014/main" id="{E2D4E781-7A52-407D-AC81-36A4DE803FC5}"/>
              </a:ext>
            </a:extLst>
          </p:cNvPr>
          <p:cNvSpPr>
            <a:spLocks xmlns:a="http://schemas.openxmlformats.org/drawingml/2006/main" noGrp="1"/>
          </p:cNvSpPr>
          <p:nvPr/>
        </p:nvSpPr>
        <p:spPr>
          <a:xfrm xmlns:a="http://schemas.openxmlformats.org/drawingml/2006/main">
            <a:off x="685800" y="10953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Segoe UI"/>
                <a:ea typeface="Segoe UI"/>
                <a:cs typeface="Segoe UI"/>
              </a:defRPr>
            </a:defPPr>
          </a:lstStyle>
          <a:p xmlns:a="http://schemas.openxmlformats.org/drawingml/2006/main">
            <a:pPr>
              <a:defRPr sz="5700" b="1">
                <a:solidFill>
                  <a:srgbClr val="FFFFFF"/>
                </a:solidFill>
                <a:latin typeface="Segoe UI"/>
                <a:ea typeface="Segoe UI"/>
                <a:cs typeface="Segoe UI"/>
              </a:defRPr>
            </a:pPr>
            <a:r>
              <a:rPr sz="5700" b="1">
                <a:solidFill>
                  <a:srgbClr val="FFFFFF"/>
                </a:solidFill>
                <a:latin typeface="Segoe UI"/>
                <a:ea typeface="Segoe UI"/>
                <a:cs typeface="Segoe UI"/>
              </a:rPr>
              <a:t>SmartScrap</a:t>
            </a:r>
          </a:p>
        </p:txBody>
      </p:sp>
      <p:sp>
        <p:nvSpPr>
          <p:cNvPr id="2" name="Conexões para a&#10;sucata industrial">
            <a:extLst xmlns:a="http://schemas.openxmlformats.org/drawingml/2006/main">
              <a:ext uri="{FF2B5EF4-FFF2-40B4-BE49-F238E27FC236}">
                <a16:creationId xmlns:a16="http://schemas.microsoft.com/office/drawing/2014/main" id="{23B4D533-3922-448B-8B69-5EDE58345E45}"/>
              </a:ext>
            </a:extLst>
          </p:cNvPr>
          <p:cNvSpPr>
            <a:spLocks xmlns:a="http://schemas.openxmlformats.org/drawingml/2006/main" noGrp="1"/>
          </p:cNvSpPr>
          <p:nvPr/>
        </p:nvSpPr>
        <p:spPr>
          <a:xfrm xmlns:a="http://schemas.openxmlformats.org/drawingml/2006/main">
            <a:off x="685800" y="2571750"/>
            <a:ext cx="4857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79D9B0"/>
                </a:solidFill>
                <a:latin typeface="Segoe UI"/>
                <a:ea typeface="Segoe UI"/>
                <a:cs typeface="Segoe UI"/>
              </a:defRPr>
            </a:defPPr>
          </a:lstStyle>
          <a:p xmlns:a="http://schemas.openxmlformats.org/drawingml/2006/main">
            <a:pPr>
              <a:defRPr sz="3450" b="1">
                <a:solidFill>
                  <a:srgbClr val="79D9B0"/>
                </a:solidFill>
                <a:latin typeface="Segoe UI"/>
                <a:ea typeface="Segoe UI"/>
                <a:cs typeface="Segoe UI"/>
              </a:defRPr>
            </a:pPr>
            <a:r>
              <a:rPr sz="3450" b="1">
                <a:solidFill>
                  <a:srgbClr val="79D9B0"/>
                </a:solidFill>
                <a:latin typeface="Segoe UI"/>
                <a:ea typeface="Segoe UI"/>
                <a:cs typeface="Segoe UI"/>
              </a:rPr>
              <a:t>Conexões para a</a:t>
            </a:r>
          </a:p>
          <a:p xmlns:a="http://schemas.openxmlformats.org/drawingml/2006/main">
            <a:pPr>
              <a:defRPr sz="3450" b="1">
                <a:solidFill>
                  <a:srgbClr val="79D9B0"/>
                </a:solidFill>
                <a:latin typeface="Segoe UI"/>
                <a:ea typeface="Segoe UI"/>
                <a:cs typeface="Segoe UI"/>
              </a:defRPr>
            </a:pPr>
            <a:r>
              <a:rPr sz="3450" b="1">
                <a:solidFill>
                  <a:srgbClr val="79D9B0"/>
                </a:solidFill>
                <a:latin typeface="Segoe UI"/>
                <a:ea typeface="Segoe UI"/>
                <a:cs typeface="Segoe UI"/>
              </a:rPr>
              <a:t>sucata industrial</a:t>
            </a:r>
          </a:p>
        </p:txBody>
      </p:sp>
      <p:sp>
        <p:nvSpPr>
          <p:cNvPr id="3" name="Empresas e organizações encontram novos destinos para s">
            <a:extLst xmlns:a="http://schemas.openxmlformats.org/drawingml/2006/main">
              <a:ext uri="{FF2B5EF4-FFF2-40B4-BE49-F238E27FC236}">
                <a16:creationId xmlns:a16="http://schemas.microsoft.com/office/drawing/2014/main" id="{8C78F806-488A-4D0C-B62F-30A6F1DD7F98}"/>
              </a:ext>
            </a:extLst>
          </p:cNvPr>
          <p:cNvSpPr>
            <a:spLocks xmlns:a="http://schemas.openxmlformats.org/drawingml/2006/main" noGrp="1"/>
          </p:cNvSpPr>
          <p:nvPr/>
        </p:nvSpPr>
        <p:spPr>
          <a:xfrm xmlns:a="http://schemas.openxmlformats.org/drawingml/2006/main">
            <a:off x="685800" y="4476750"/>
            <a:ext cx="4572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1E4D9"/>
                </a:solidFill>
                <a:latin typeface="Segoe UI"/>
                <a:ea typeface="Segoe UI"/>
                <a:cs typeface="Segoe UI"/>
              </a:defRPr>
            </a:defPPr>
          </a:lstStyle>
          <a:p xmlns:a="http://schemas.openxmlformats.org/drawingml/2006/main">
            <a:pPr>
              <a:defRPr sz="2025" b="0">
                <a:solidFill>
                  <a:srgbClr val="D1E4D9"/>
                </a:solidFill>
                <a:latin typeface="Segoe UI"/>
                <a:ea typeface="Segoe UI"/>
                <a:cs typeface="Segoe UI"/>
              </a:defRPr>
            </a:pPr>
            <a:r>
              <a:rPr sz="2025" b="0">
                <a:solidFill>
                  <a:srgbClr val="D1E4D9"/>
                </a:solidFill>
                <a:latin typeface="Segoe UI"/>
                <a:ea typeface="Segoe UI"/>
                <a:cs typeface="Segoe UI"/>
              </a:rPr>
              <a:t>Empresas e organizações encontram novos destinos para seus materiais.</a:t>
            </a:r>
          </a:p>
        </p:txBody>
      </p:sp>
      <p:pic>
        <p:nvPicPr>
          <p:cNvPr id="4" name="">
            <a:extLst xmlns:a="http://schemas.openxmlformats.org/drawingml/2006/main">
              <a:ext uri="{FF2B5EF4-FFF2-40B4-BE49-F238E27FC236}">
                <a16:creationId xmlns:a16="http://schemas.microsoft.com/office/drawing/2014/main" id="{6711FB9B-D223-40AA-A845-F1E002757C0E}"/>
              </a:ext>
            </a:extLst>
          </p:cNvPr>
          <p:cNvPicPr>
            <a:picLocks xmlns:a="http://schemas.openxmlformats.org/drawingml/2006/main" noChangeAspect="1"/>
          </p:cNvPicPr>
          <p:nvPr/>
        </p:nvPicPr>
        <p:blipFill>
          <a:blip xmlns:r="http://schemas.openxmlformats.org/officeDocument/2006/relationships" xmlns:a="http://schemas.openxmlformats.org/drawingml/2006/main" r:embed="Rcec773af75c54a9f"/>
          <a:stretch xmlns:a="http://schemas.openxmlformats.org/drawingml/2006/main"/>
        </p:blipFill>
        <p:spPr>
          <a:xfrm xmlns:a="http://schemas.openxmlformats.org/drawingml/2006/main">
            <a:off x="5911924" y="571500"/>
            <a:ext cx="5606902" cy="5381625"/>
          </a:xfrm>
          <a:prstGeom xmlns:a="http://schemas.openxmlformats.org/drawingml/2006/main" prst="rect">
            <a:avLst/>
          </a:prstGeom>
        </p:spPr>
      </p:pic>
      <p:sp>
        <p:nvSpPr>
          <p:cNvPr id="5" name="Tela do protótipo com dados fictícios">
            <a:extLst xmlns:a="http://schemas.openxmlformats.org/drawingml/2006/main">
              <a:ext uri="{FF2B5EF4-FFF2-40B4-BE49-F238E27FC236}">
                <a16:creationId xmlns:a16="http://schemas.microsoft.com/office/drawing/2014/main" id="{7D958E52-AD04-49F8-8DE7-5ACF782CB4AB}"/>
              </a:ext>
            </a:extLst>
          </p:cNvPr>
          <p:cNvSpPr>
            <a:spLocks xmlns:a="http://schemas.openxmlformats.org/drawingml/2006/main" noGrp="1"/>
          </p:cNvSpPr>
          <p:nvPr/>
        </p:nvSpPr>
        <p:spPr>
          <a:xfrm xmlns:a="http://schemas.openxmlformats.org/drawingml/2006/main">
            <a:off x="6191250" y="611505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D8CA"/>
                </a:solidFill>
                <a:latin typeface="Segoe UI"/>
                <a:ea typeface="Segoe UI"/>
                <a:cs typeface="Segoe UI"/>
              </a:defRPr>
            </a:defPPr>
          </a:lstStyle>
          <a:p xmlns:a="http://schemas.openxmlformats.org/drawingml/2006/main">
            <a:pPr>
              <a:defRPr sz="1350" b="0">
                <a:solidFill>
                  <a:srgbClr val="BCD8CA"/>
                </a:solidFill>
                <a:latin typeface="Segoe UI"/>
                <a:ea typeface="Segoe UI"/>
                <a:cs typeface="Segoe UI"/>
              </a:defRPr>
            </a:pPr>
            <a:r>
              <a:rPr sz="1350" b="0">
                <a:solidFill>
                  <a:srgbClr val="BCD8CA"/>
                </a:solidFill>
                <a:latin typeface="Segoe UI"/>
                <a:ea typeface="Segoe UI"/>
                <a:cs typeface="Segoe UI"/>
              </a:rPr>
              <a:t>Tela do protótipo com dados fictícios</a:t>
            </a:r>
          </a:p>
        </p:txBody>
      </p:sp>
    </p:spTree>
    <p:extLst>
      <p:ext uri="{BB962C8B-B14F-4D97-AF65-F5344CB8AC3E}">
        <p14:creationId xmlns:p14="http://schemas.microsoft.com/office/powerpoint/2010/main" val="236242928"/>
      </p:ext>
    </p:extLst>
  </p:cSld>
</p:sld>
</file>

<file path=ppt/slides/slide2.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0" name="Sucata já movimenta a indústria">
            <a:extLst xmlns:a="http://schemas.openxmlformats.org/drawingml/2006/main">
              <a:ext uri="{FF2B5EF4-FFF2-40B4-BE49-F238E27FC236}">
                <a16:creationId xmlns:a16="http://schemas.microsoft.com/office/drawing/2014/main" id="{D336F9D2-FF96-446A-B546-C0B8C0905DAD}"/>
              </a:ext>
            </a:extLst>
          </p:cNvPr>
          <p:cNvSpPr>
            <a:spLocks xmlns:a="http://schemas.openxmlformats.org/drawingml/2006/main" noGrp="1"/>
          </p:cNvSpPr>
          <p:nvPr/>
        </p:nvSpPr>
        <p:spPr>
          <a:xfrm xmlns:a="http://schemas.openxmlformats.org/drawingml/2006/main">
            <a:off x="685800" y="552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D30"/>
                </a:solidFill>
                <a:latin typeface="Segoe UI"/>
                <a:ea typeface="Segoe UI"/>
                <a:cs typeface="Segoe UI"/>
              </a:defRPr>
            </a:defPPr>
          </a:lstStyle>
          <a:p xmlns:a="http://schemas.openxmlformats.org/drawingml/2006/main">
            <a:pPr>
              <a:defRPr sz="3300" b="1">
                <a:solidFill>
                  <a:srgbClr val="203D30"/>
                </a:solidFill>
                <a:latin typeface="Segoe UI"/>
                <a:ea typeface="Segoe UI"/>
                <a:cs typeface="Segoe UI"/>
              </a:defRPr>
            </a:pPr>
            <a:r>
              <a:rPr sz="3300" b="1">
                <a:solidFill>
                  <a:srgbClr val="203D30"/>
                </a:solidFill>
                <a:latin typeface="Segoe UI"/>
                <a:ea typeface="Segoe UI"/>
                <a:cs typeface="Segoe UI"/>
              </a:rPr>
              <a:t>Sucata já movimenta a indústria</a:t>
            </a:r>
          </a:p>
        </p:txBody>
      </p:sp>
      <p:sp>
        <p:nvSpPr>
          <p:cNvPr id="2" name="2 / 6">
            <a:extLst xmlns:a="http://schemas.openxmlformats.org/drawingml/2006/main">
              <a:ext uri="{FF2B5EF4-FFF2-40B4-BE49-F238E27FC236}">
                <a16:creationId xmlns:a16="http://schemas.microsoft.com/office/drawing/2014/main" id="{59EE3E8B-52A1-4038-84B4-8AAD41E17DD1}"/>
              </a:ext>
            </a:extLst>
          </p:cNvPr>
          <p:cNvSpPr>
            <a:spLocks xmlns:a="http://schemas.openxmlformats.org/drawingml/2006/main" noGrp="1"/>
          </p:cNvSpPr>
          <p:nvPr/>
        </p:nvSpPr>
        <p:spPr>
          <a:xfrm xmlns:a="http://schemas.openxmlformats.org/drawingml/2006/main">
            <a:off x="10763250" y="6381750"/>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C8274"/>
                </a:solidFill>
                <a:latin typeface="Segoe UI"/>
                <a:ea typeface="Segoe UI"/>
                <a:cs typeface="Segoe UI"/>
              </a:defRPr>
            </a:defPPr>
          </a:lstStyle>
          <a:p xmlns:a="http://schemas.openxmlformats.org/drawingml/2006/main">
            <a:pPr>
              <a:defRPr sz="1275" b="0">
                <a:solidFill>
                  <a:srgbClr val="6C8274"/>
                </a:solidFill>
                <a:latin typeface="Segoe UI"/>
                <a:ea typeface="Segoe UI"/>
                <a:cs typeface="Segoe UI"/>
              </a:defRPr>
            </a:pPr>
            <a:r>
              <a:rPr sz="1275" b="0">
                <a:solidFill>
                  <a:srgbClr val="6C8274"/>
                </a:solidFill>
                <a:latin typeface="Segoe UI"/>
                <a:ea typeface="Segoe UI"/>
                <a:cs typeface="Segoe UI"/>
              </a:rPr>
              <a:t>2 / 6</a:t>
            </a:r>
          </a:p>
        </p:txBody>
      </p:sp>
      <p:sp>
        <p:nvSpPr>
          <p:cNvPr id="3" name="7,7 milhões t">
            <a:extLst xmlns:a="http://schemas.openxmlformats.org/drawingml/2006/main">
              <a:ext uri="{FF2B5EF4-FFF2-40B4-BE49-F238E27FC236}">
                <a16:creationId xmlns:a16="http://schemas.microsoft.com/office/drawing/2014/main" id="{B3878A0F-E63B-4E16-97E7-863BFD523222}"/>
              </a:ext>
            </a:extLst>
          </p:cNvPr>
          <p:cNvSpPr>
            <a:spLocks xmlns:a="http://schemas.openxmlformats.org/drawingml/2006/main" noGrp="1"/>
          </p:cNvSpPr>
          <p:nvPr/>
        </p:nvSpPr>
        <p:spPr>
          <a:xfrm xmlns:a="http://schemas.openxmlformats.org/drawingml/2006/main">
            <a:off x="685800" y="1752600"/>
            <a:ext cx="5429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078563"/>
                </a:solidFill>
                <a:latin typeface="Segoe UI"/>
                <a:ea typeface="Segoe UI"/>
                <a:cs typeface="Segoe UI"/>
              </a:defRPr>
            </a:defPPr>
          </a:lstStyle>
          <a:p xmlns:a="http://schemas.openxmlformats.org/drawingml/2006/main">
            <a:pPr>
              <a:defRPr sz="5550" b="1">
                <a:solidFill>
                  <a:srgbClr val="078563"/>
                </a:solidFill>
                <a:latin typeface="Segoe UI"/>
                <a:ea typeface="Segoe UI"/>
                <a:cs typeface="Segoe UI"/>
              </a:defRPr>
            </a:pPr>
            <a:r>
              <a:rPr sz="5550" b="1">
                <a:solidFill>
                  <a:srgbClr val="078563"/>
                </a:solidFill>
                <a:latin typeface="Segoe UI"/>
                <a:ea typeface="Segoe UI"/>
                <a:cs typeface="Segoe UI"/>
              </a:rPr>
              <a:t>7,7 milhões t</a:t>
            </a:r>
          </a:p>
        </p:txBody>
      </p:sp>
      <p:sp>
        <p:nvSpPr>
          <p:cNvPr id="4" name="de sucata de aço recicladas pelas associadas ao Aço Bra">
            <a:extLst xmlns:a="http://schemas.openxmlformats.org/drawingml/2006/main">
              <a:ext uri="{FF2B5EF4-FFF2-40B4-BE49-F238E27FC236}">
                <a16:creationId xmlns:a16="http://schemas.microsoft.com/office/drawing/2014/main" id="{227B51A3-2AFC-4DCC-8AC9-FA03B9793F87}"/>
              </a:ext>
            </a:extLst>
          </p:cNvPr>
          <p:cNvSpPr>
            <a:spLocks xmlns:a="http://schemas.openxmlformats.org/drawingml/2006/main" noGrp="1"/>
          </p:cNvSpPr>
          <p:nvPr/>
        </p:nvSpPr>
        <p:spPr>
          <a:xfrm xmlns:a="http://schemas.openxmlformats.org/drawingml/2006/main">
            <a:off x="685800" y="30480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0"/>
                </a:solidFill>
                <a:latin typeface="Segoe UI"/>
                <a:ea typeface="Segoe UI"/>
                <a:cs typeface="Segoe UI"/>
              </a:defRPr>
            </a:defPPr>
          </a:lstStyle>
          <a:p xmlns:a="http://schemas.openxmlformats.org/drawingml/2006/main">
            <a:pPr>
              <a:defRPr sz="2100" b="0">
                <a:solidFill>
                  <a:srgbClr val="203D30"/>
                </a:solidFill>
                <a:latin typeface="Segoe UI"/>
                <a:ea typeface="Segoe UI"/>
                <a:cs typeface="Segoe UI"/>
              </a:defRPr>
            </a:pPr>
            <a:r>
              <a:rPr sz="2100" b="0">
                <a:solidFill>
                  <a:srgbClr val="203D30"/>
                </a:solidFill>
                <a:latin typeface="Segoe UI"/>
                <a:ea typeface="Segoe UI"/>
                <a:cs typeface="Segoe UI"/>
              </a:rPr>
              <a:t>de sucata de aço recicladas pelas associadas ao Aço Brasil em 2023</a:t>
            </a:r>
          </a:p>
        </p:txBody>
      </p:sp>
      <p:graphicFrame>
        <p:nvGraphicFramePr>
          <p:cNvPr id="5" name="Chart">
            <a:extLst xmlns:a="http://schemas.openxmlformats.org/drawingml/2006/main">
              <a:ext uri="{FF2B5EF4-FFF2-40B4-BE49-F238E27FC236}">
                <a16:creationId xmlns:a16="http://schemas.microsoft.com/office/drawing/2014/main" id="{B9A5248F-7070-499A-9B83-7DB87FEA87DA}"/>
              </a:ext>
            </a:extLst>
          </p:cNvPr>
          <p:cNvGraphicFramePr/>
          <p:nvPr/>
        </p:nvGraphicFramePr>
        <p:xfrm>
          <a:off xmlns:a="http://schemas.openxmlformats.org/drawingml/2006/main" x="6191250" y="1752600"/>
          <a:ext xmlns:a="http://schemas.openxmlformats.org/drawingml/2006/main" cx="5238750" cy="2857500"/>
        </p:xfrm>
        <a:graphic xmlns:a="http://schemas.openxmlformats.org/drawingml/2006/main">
          <a:graphicData uri="http://schemas.openxmlformats.org/drawingml/2006/chart">
            <c:chart xmlns:r="http://schemas.openxmlformats.org/officeDocument/2006/relationships" xmlns:c="http://schemas.openxmlformats.org/drawingml/2006/chart" r:id="R998124d529714544"/>
          </a:graphicData>
        </a:graphic>
      </p:graphicFrame>
      <p:sp>
        <p:nvSpPr>
          <p:cNvPr id="6" name="Milhões de toneladas, 2023">
            <a:extLst xmlns:a="http://schemas.openxmlformats.org/drawingml/2006/main">
              <a:ext uri="{FF2B5EF4-FFF2-40B4-BE49-F238E27FC236}">
                <a16:creationId xmlns:a16="http://schemas.microsoft.com/office/drawing/2014/main" id="{D4ED0D00-9CB6-4E0C-876A-1D2A379D75B3}"/>
              </a:ext>
            </a:extLst>
          </p:cNvPr>
          <p:cNvSpPr>
            <a:spLocks xmlns:a="http://schemas.openxmlformats.org/drawingml/2006/main" noGrp="1"/>
          </p:cNvSpPr>
          <p:nvPr/>
        </p:nvSpPr>
        <p:spPr>
          <a:xfrm xmlns:a="http://schemas.openxmlformats.org/drawingml/2006/main">
            <a:off x="6191250" y="152400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6C8274"/>
                </a:solidFill>
                <a:latin typeface="Segoe UI"/>
                <a:ea typeface="Segoe UI"/>
                <a:cs typeface="Segoe UI"/>
              </a:defRPr>
            </a:defPPr>
          </a:lstStyle>
          <a:p xmlns:a="http://schemas.openxmlformats.org/drawingml/2006/main">
            <a:pPr>
              <a:defRPr sz="1500" b="0">
                <a:solidFill>
                  <a:srgbClr val="6C8274"/>
                </a:solidFill>
                <a:latin typeface="Segoe UI"/>
                <a:ea typeface="Segoe UI"/>
                <a:cs typeface="Segoe UI"/>
              </a:defRPr>
            </a:pPr>
            <a:r>
              <a:rPr sz="1500" b="0">
                <a:solidFill>
                  <a:srgbClr val="6C8274"/>
                </a:solidFill>
                <a:latin typeface="Segoe UI"/>
                <a:ea typeface="Segoe UI"/>
                <a:cs typeface="Segoe UI"/>
              </a:rPr>
              <a:t>Milhões de toneladas, 2023</a:t>
            </a:r>
          </a:p>
        </p:txBody>
      </p:sp>
      <p:sp>
        <p:nvSpPr>
          <p:cNvPr id="7" name="1,5 t de CO₂ evitadas">
            <a:extLst xmlns:a="http://schemas.openxmlformats.org/drawingml/2006/main">
              <a:ext uri="{FF2B5EF4-FFF2-40B4-BE49-F238E27FC236}">
                <a16:creationId xmlns:a16="http://schemas.microsoft.com/office/drawing/2014/main" id="{05C39356-BC3A-42A2-80C2-E1659A54ECE0}"/>
              </a:ext>
            </a:extLst>
          </p:cNvPr>
          <p:cNvSpPr>
            <a:spLocks xmlns:a="http://schemas.openxmlformats.org/drawingml/2006/main" noGrp="1"/>
          </p:cNvSpPr>
          <p:nvPr/>
        </p:nvSpPr>
        <p:spPr>
          <a:xfrm xmlns:a="http://schemas.openxmlformats.org/drawingml/2006/main">
            <a:off x="685800" y="48387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203D30"/>
                </a:solidFill>
                <a:latin typeface="Segoe UI"/>
                <a:ea typeface="Segoe UI"/>
                <a:cs typeface="Segoe UI"/>
              </a:defRPr>
            </a:defPPr>
          </a:lstStyle>
          <a:p xmlns:a="http://schemas.openxmlformats.org/drawingml/2006/main">
            <a:pPr>
              <a:defRPr sz="2700" b="1">
                <a:solidFill>
                  <a:srgbClr val="203D30"/>
                </a:solidFill>
                <a:latin typeface="Segoe UI"/>
                <a:ea typeface="Segoe UI"/>
                <a:cs typeface="Segoe UI"/>
              </a:defRPr>
            </a:pPr>
            <a:r>
              <a:rPr sz="2700" b="1">
                <a:solidFill>
                  <a:srgbClr val="203D30"/>
                </a:solidFill>
                <a:latin typeface="Segoe UI"/>
                <a:ea typeface="Segoe UI"/>
                <a:cs typeface="Segoe UI"/>
              </a:rPr>
              <a:t>1,5 t de CO₂ evitadas</a:t>
            </a:r>
          </a:p>
        </p:txBody>
      </p:sp>
      <p:sp>
        <p:nvSpPr>
          <p:cNvPr id="8" name="por tonelada de sucata usada na produção de aço, segund">
            <a:extLst xmlns:a="http://schemas.openxmlformats.org/drawingml/2006/main">
              <a:ext uri="{FF2B5EF4-FFF2-40B4-BE49-F238E27FC236}">
                <a16:creationId xmlns:a16="http://schemas.microsoft.com/office/drawing/2014/main" id="{107F3186-8A00-4D65-B6E0-27127F60A943}"/>
              </a:ext>
            </a:extLst>
          </p:cNvPr>
          <p:cNvSpPr>
            <a:spLocks xmlns:a="http://schemas.openxmlformats.org/drawingml/2006/main" noGrp="1"/>
          </p:cNvSpPr>
          <p:nvPr/>
        </p:nvSpPr>
        <p:spPr>
          <a:xfrm xmlns:a="http://schemas.openxmlformats.org/drawingml/2006/main">
            <a:off x="685800" y="54673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por tonelada de sucata usada na produção de aço, segundo estimativa setorial da worldsteel.</a:t>
            </a:r>
          </a:p>
        </p:txBody>
      </p:sp>
      <p:sp>
        <p:nvSpPr>
          <p:cNvPr id="9" name="Aço Brasil, Aço &amp; Sustentabilidade 2024, pp. 7 e 10. wo">
            <a:extLst xmlns:a="http://schemas.openxmlformats.org/drawingml/2006/main">
              <a:ext uri="{FF2B5EF4-FFF2-40B4-BE49-F238E27FC236}">
                <a16:creationId xmlns:a16="http://schemas.microsoft.com/office/drawing/2014/main" id="{4FEBF7A1-0008-4513-A7DF-E619963B550E}"/>
              </a:ext>
            </a:extLst>
          </p:cNvPr>
          <p:cNvSpPr>
            <a:spLocks xmlns:a="http://schemas.openxmlformats.org/drawingml/2006/main" noGrp="1"/>
          </p:cNvSpPr>
          <p:nvPr/>
        </p:nvSpPr>
        <p:spPr>
          <a:xfrm xmlns:a="http://schemas.openxmlformats.org/drawingml/2006/main">
            <a:off x="685800" y="6200775"/>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C8274"/>
                </a:solidFill>
                <a:latin typeface="Segoe UI"/>
                <a:ea typeface="Segoe UI"/>
                <a:cs typeface="Segoe UI"/>
              </a:defRPr>
            </a:defPPr>
          </a:lstStyle>
          <a:p xmlns:a="http://schemas.openxmlformats.org/drawingml/2006/main">
            <a:pPr>
              <a:defRPr sz="1125" b="0">
                <a:solidFill>
                  <a:srgbClr val="6C8274"/>
                </a:solidFill>
                <a:latin typeface="Segoe UI"/>
                <a:ea typeface="Segoe UI"/>
                <a:cs typeface="Segoe UI"/>
              </a:defRPr>
            </a:pPr>
            <a:r>
              <a:rPr sz="1125" b="0">
                <a:solidFill>
                  <a:srgbClr val="6C8274"/>
                </a:solidFill>
                <a:latin typeface="Segoe UI"/>
                <a:ea typeface="Segoe UI"/>
                <a:cs typeface="Segoe UI"/>
              </a:rPr>
              <a:t>Aço Brasil, Aço &amp; Sustentabilidade 2024, pp. 7 e 10. worldsteel, Raw materials. O app ainda não calcula emissões evitadas.</a:t>
            </a:r>
          </a:p>
        </p:txBody>
      </p:sp>
    </p:spTree>
    <p:extLst>
      <p:ext uri="{BB962C8B-B14F-4D97-AF65-F5344CB8AC3E}">
        <p14:creationId xmlns:p14="http://schemas.microsoft.com/office/powerpoint/2010/main" val="611940205"/>
      </p:ext>
    </p:extLst>
  </p:cSld>
</p:sld>
</file>

<file path=ppt/slides/slide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18" name="Fluxo do lote">
            <a:extLst xmlns:a="http://schemas.openxmlformats.org/drawingml/2006/main">
              <a:ext uri="{FF2B5EF4-FFF2-40B4-BE49-F238E27FC236}">
                <a16:creationId xmlns:a16="http://schemas.microsoft.com/office/drawing/2014/main" id="{6D264CD6-DCDC-403C-AAD6-D58E347425F5}"/>
              </a:ext>
            </a:extLst>
          </p:cNvPr>
          <p:cNvSpPr>
            <a:spLocks xmlns:a="http://schemas.openxmlformats.org/drawingml/2006/main" noGrp="1"/>
          </p:cNvSpPr>
          <p:nvPr/>
        </p:nvSpPr>
        <p:spPr>
          <a:xfrm xmlns:a="http://schemas.openxmlformats.org/drawingml/2006/main">
            <a:off x="685800" y="552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D30"/>
                </a:solidFill>
                <a:latin typeface="Segoe UI"/>
                <a:ea typeface="Segoe UI"/>
                <a:cs typeface="Segoe UI"/>
              </a:defRPr>
            </a:defPPr>
          </a:lstStyle>
          <a:p xmlns:a="http://schemas.openxmlformats.org/drawingml/2006/main">
            <a:pPr>
              <a:defRPr sz="3300" b="1">
                <a:solidFill>
                  <a:srgbClr val="203D30"/>
                </a:solidFill>
                <a:latin typeface="Segoe UI"/>
                <a:ea typeface="Segoe UI"/>
                <a:cs typeface="Segoe UI"/>
              </a:defRPr>
            </a:pPr>
            <a:r>
              <a:rPr sz="3300" b="1">
                <a:solidFill>
                  <a:srgbClr val="203D30"/>
                </a:solidFill>
                <a:latin typeface="Segoe UI"/>
                <a:ea typeface="Segoe UI"/>
                <a:cs typeface="Segoe UI"/>
              </a:rPr>
              <a:t>Fluxo do lote</a:t>
            </a:r>
          </a:p>
        </p:txBody>
      </p:sp>
      <p:sp>
        <p:nvSpPr>
          <p:cNvPr id="2" name="3 / 6">
            <a:extLst xmlns:a="http://schemas.openxmlformats.org/drawingml/2006/main">
              <a:ext uri="{FF2B5EF4-FFF2-40B4-BE49-F238E27FC236}">
                <a16:creationId xmlns:a16="http://schemas.microsoft.com/office/drawing/2014/main" id="{8E6F68B8-AC9F-48B1-8ECD-35E87B9DE8AE}"/>
              </a:ext>
            </a:extLst>
          </p:cNvPr>
          <p:cNvSpPr>
            <a:spLocks xmlns:a="http://schemas.openxmlformats.org/drawingml/2006/main" noGrp="1"/>
          </p:cNvSpPr>
          <p:nvPr/>
        </p:nvSpPr>
        <p:spPr>
          <a:xfrm xmlns:a="http://schemas.openxmlformats.org/drawingml/2006/main">
            <a:off x="10763250" y="6381750"/>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C8274"/>
                </a:solidFill>
                <a:latin typeface="Segoe UI"/>
                <a:ea typeface="Segoe UI"/>
                <a:cs typeface="Segoe UI"/>
              </a:defRPr>
            </a:defPPr>
          </a:lstStyle>
          <a:p xmlns:a="http://schemas.openxmlformats.org/drawingml/2006/main">
            <a:pPr>
              <a:defRPr sz="1275" b="0">
                <a:solidFill>
                  <a:srgbClr val="6C8274"/>
                </a:solidFill>
                <a:latin typeface="Segoe UI"/>
                <a:ea typeface="Segoe UI"/>
                <a:cs typeface="Segoe UI"/>
              </a:defRPr>
            </a:pPr>
            <a:r>
              <a:rPr sz="1275" b="0">
                <a:solidFill>
                  <a:srgbClr val="6C8274"/>
                </a:solidFill>
                <a:latin typeface="Segoe UI"/>
                <a:ea typeface="Segoe UI"/>
                <a:cs typeface="Segoe UI"/>
              </a:rPr>
              <a:t>3 / 6</a:t>
            </a:r>
          </a:p>
        </p:txBody>
      </p:sp>
      <p:sp>
        <p:nvSpPr>
          <p:cNvPr id="3" name="01">
            <a:extLst xmlns:a="http://schemas.openxmlformats.org/drawingml/2006/main">
              <a:ext uri="{FF2B5EF4-FFF2-40B4-BE49-F238E27FC236}">
                <a16:creationId xmlns:a16="http://schemas.microsoft.com/office/drawing/2014/main" id="{6A5EA4C2-DC1A-45B9-803E-D6A87CB887BE}"/>
              </a:ext>
            </a:extLst>
          </p:cNvPr>
          <p:cNvSpPr>
            <a:spLocks xmlns:a="http://schemas.openxmlformats.org/drawingml/2006/main" noGrp="1"/>
          </p:cNvSpPr>
          <p:nvPr/>
        </p:nvSpPr>
        <p:spPr>
          <a:xfrm xmlns:a="http://schemas.openxmlformats.org/drawingml/2006/main">
            <a:off x="685800" y="1685925"/>
            <a:ext cx="70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78563"/>
                </a:solidFill>
                <a:latin typeface="Segoe UI"/>
                <a:ea typeface="Segoe UI"/>
                <a:cs typeface="Segoe UI"/>
              </a:defRPr>
            </a:defPPr>
          </a:lstStyle>
          <a:p xmlns:a="http://schemas.openxmlformats.org/drawingml/2006/main">
            <a:pPr>
              <a:defRPr sz="2550" b="1">
                <a:solidFill>
                  <a:srgbClr val="078563"/>
                </a:solidFill>
                <a:latin typeface="Segoe UI"/>
                <a:ea typeface="Segoe UI"/>
                <a:cs typeface="Segoe UI"/>
              </a:defRPr>
            </a:pPr>
            <a:r>
              <a:rPr sz="2550" b="1">
                <a:solidFill>
                  <a:srgbClr val="078563"/>
                </a:solidFill>
                <a:latin typeface="Segoe UI"/>
                <a:ea typeface="Segoe UI"/>
                <a:cs typeface="Segoe UI"/>
              </a:rPr>
              <a:t>01</a:t>
            </a:r>
          </a:p>
        </p:txBody>
      </p:sp>
      <p:sp>
        <p:nvSpPr>
          <p:cNvPr id="4" name="Cadastro por organização">
            <a:extLst xmlns:a="http://schemas.openxmlformats.org/drawingml/2006/main">
              <a:ext uri="{FF2B5EF4-FFF2-40B4-BE49-F238E27FC236}">
                <a16:creationId xmlns:a16="http://schemas.microsoft.com/office/drawing/2014/main" id="{8FC1C319-7D92-48BC-936F-C89C0D0C992A}"/>
              </a:ext>
            </a:extLst>
          </p:cNvPr>
          <p:cNvSpPr>
            <a:spLocks xmlns:a="http://schemas.openxmlformats.org/drawingml/2006/main" noGrp="1"/>
          </p:cNvSpPr>
          <p:nvPr/>
        </p:nvSpPr>
        <p:spPr>
          <a:xfrm xmlns:a="http://schemas.openxmlformats.org/drawingml/2006/main">
            <a:off x="1685925" y="16859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0"/>
                </a:solidFill>
                <a:latin typeface="Segoe UI"/>
                <a:ea typeface="Segoe UI"/>
                <a:cs typeface="Segoe UI"/>
              </a:defRPr>
            </a:defPPr>
          </a:lstStyle>
          <a:p xmlns:a="http://schemas.openxmlformats.org/drawingml/2006/main">
            <a:pPr>
              <a:defRPr sz="2175" b="1">
                <a:solidFill>
                  <a:srgbClr val="203D30"/>
                </a:solidFill>
                <a:latin typeface="Segoe UI"/>
                <a:ea typeface="Segoe UI"/>
                <a:cs typeface="Segoe UI"/>
              </a:defRPr>
            </a:pPr>
            <a:r>
              <a:rPr sz="2175" b="1">
                <a:solidFill>
                  <a:srgbClr val="203D30"/>
                </a:solidFill>
                <a:latin typeface="Segoe UI"/>
                <a:ea typeface="Segoe UI"/>
                <a:cs typeface="Segoe UI"/>
              </a:rPr>
              <a:t>Cadastro por organização</a:t>
            </a:r>
          </a:p>
        </p:txBody>
      </p:sp>
      <p:sp>
        <p:nvSpPr>
          <p:cNvPr id="5" name="Vários usuários acompanham os mesmos dados da empresa o">
            <a:extLst xmlns:a="http://schemas.openxmlformats.org/drawingml/2006/main">
              <a:ext uri="{FF2B5EF4-FFF2-40B4-BE49-F238E27FC236}">
                <a16:creationId xmlns:a16="http://schemas.microsoft.com/office/drawing/2014/main" id="{A1F10C2E-DC08-4B52-BC5D-5010760FE15C}"/>
              </a:ext>
            </a:extLst>
          </p:cNvPr>
          <p:cNvSpPr>
            <a:spLocks xmlns:a="http://schemas.openxmlformats.org/drawingml/2006/main" noGrp="1"/>
          </p:cNvSpPr>
          <p:nvPr/>
        </p:nvSpPr>
        <p:spPr>
          <a:xfrm xmlns:a="http://schemas.openxmlformats.org/drawingml/2006/main">
            <a:off x="1685925" y="20955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Vários usuários acompanham os mesmos dados da empresa ou ONG.</a:t>
            </a:r>
          </a:p>
        </p:txBody>
      </p:sp>
      <p:sp>
        <p:nvSpPr>
          <p:cNvPr id="6" name="02">
            <a:extLst xmlns:a="http://schemas.openxmlformats.org/drawingml/2006/main">
              <a:ext uri="{FF2B5EF4-FFF2-40B4-BE49-F238E27FC236}">
                <a16:creationId xmlns:a16="http://schemas.microsoft.com/office/drawing/2014/main" id="{B743049D-364E-47CD-94DD-6519113F37BE}"/>
              </a:ext>
            </a:extLst>
          </p:cNvPr>
          <p:cNvSpPr>
            <a:spLocks xmlns:a="http://schemas.openxmlformats.org/drawingml/2006/main" noGrp="1"/>
          </p:cNvSpPr>
          <p:nvPr/>
        </p:nvSpPr>
        <p:spPr>
          <a:xfrm xmlns:a="http://schemas.openxmlformats.org/drawingml/2006/main">
            <a:off x="685800" y="2552700"/>
            <a:ext cx="70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78563"/>
                </a:solidFill>
                <a:latin typeface="Segoe UI"/>
                <a:ea typeface="Segoe UI"/>
                <a:cs typeface="Segoe UI"/>
              </a:defRPr>
            </a:defPPr>
          </a:lstStyle>
          <a:p xmlns:a="http://schemas.openxmlformats.org/drawingml/2006/main">
            <a:pPr>
              <a:defRPr sz="2550" b="1">
                <a:solidFill>
                  <a:srgbClr val="078563"/>
                </a:solidFill>
                <a:latin typeface="Segoe UI"/>
                <a:ea typeface="Segoe UI"/>
                <a:cs typeface="Segoe UI"/>
              </a:defRPr>
            </a:pPr>
            <a:r>
              <a:rPr sz="2550" b="1">
                <a:solidFill>
                  <a:srgbClr val="078563"/>
                </a:solidFill>
                <a:latin typeface="Segoe UI"/>
                <a:ea typeface="Segoe UI"/>
                <a:cs typeface="Segoe UI"/>
              </a:rPr>
              <a:t>02</a:t>
            </a:r>
          </a:p>
        </p:txBody>
      </p:sp>
      <p:sp>
        <p:nvSpPr>
          <p:cNvPr id="7" name="Publicação do material">
            <a:extLst xmlns:a="http://schemas.openxmlformats.org/drawingml/2006/main">
              <a:ext uri="{FF2B5EF4-FFF2-40B4-BE49-F238E27FC236}">
                <a16:creationId xmlns:a16="http://schemas.microsoft.com/office/drawing/2014/main" id="{ABB6A054-DBBD-4B01-952F-2F9E8F9D244A}"/>
              </a:ext>
            </a:extLst>
          </p:cNvPr>
          <p:cNvSpPr>
            <a:spLocks xmlns:a="http://schemas.openxmlformats.org/drawingml/2006/main" noGrp="1"/>
          </p:cNvSpPr>
          <p:nvPr/>
        </p:nvSpPr>
        <p:spPr>
          <a:xfrm xmlns:a="http://schemas.openxmlformats.org/drawingml/2006/main">
            <a:off x="1685925" y="25527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0"/>
                </a:solidFill>
                <a:latin typeface="Segoe UI"/>
                <a:ea typeface="Segoe UI"/>
                <a:cs typeface="Segoe UI"/>
              </a:defRPr>
            </a:defPPr>
          </a:lstStyle>
          <a:p xmlns:a="http://schemas.openxmlformats.org/drawingml/2006/main">
            <a:pPr>
              <a:defRPr sz="2175" b="1">
                <a:solidFill>
                  <a:srgbClr val="203D30"/>
                </a:solidFill>
                <a:latin typeface="Segoe UI"/>
                <a:ea typeface="Segoe UI"/>
                <a:cs typeface="Segoe UI"/>
              </a:defRPr>
            </a:pPr>
            <a:r>
              <a:rPr sz="2175" b="1">
                <a:solidFill>
                  <a:srgbClr val="203D30"/>
                </a:solidFill>
                <a:latin typeface="Segoe UI"/>
                <a:ea typeface="Segoe UI"/>
                <a:cs typeface="Segoe UI"/>
              </a:rPr>
              <a:t>Publicação do material</a:t>
            </a:r>
          </a:p>
        </p:txBody>
      </p:sp>
      <p:sp>
        <p:nvSpPr>
          <p:cNvPr id="8" name="O operador informa metal, peso, preço e pode enviar de ">
            <a:extLst xmlns:a="http://schemas.openxmlformats.org/drawingml/2006/main">
              <a:ext uri="{FF2B5EF4-FFF2-40B4-BE49-F238E27FC236}">
                <a16:creationId xmlns:a16="http://schemas.microsoft.com/office/drawing/2014/main" id="{62CFA895-4A75-464B-8DCE-FA2701274A00}"/>
              </a:ext>
            </a:extLst>
          </p:cNvPr>
          <p:cNvSpPr>
            <a:spLocks xmlns:a="http://schemas.openxmlformats.org/drawingml/2006/main" noGrp="1"/>
          </p:cNvSpPr>
          <p:nvPr/>
        </p:nvSpPr>
        <p:spPr>
          <a:xfrm xmlns:a="http://schemas.openxmlformats.org/drawingml/2006/main">
            <a:off x="1685925" y="296227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O operador informa metal, peso, preço e pode enviar de 1 a 3 fotos.</a:t>
            </a:r>
          </a:p>
        </p:txBody>
      </p:sp>
      <p:sp>
        <p:nvSpPr>
          <p:cNvPr id="9" name="03">
            <a:extLst xmlns:a="http://schemas.openxmlformats.org/drawingml/2006/main">
              <a:ext uri="{FF2B5EF4-FFF2-40B4-BE49-F238E27FC236}">
                <a16:creationId xmlns:a16="http://schemas.microsoft.com/office/drawing/2014/main" id="{9E8F990D-3894-4873-B317-E1F48B2FB7E2}"/>
              </a:ext>
            </a:extLst>
          </p:cNvPr>
          <p:cNvSpPr>
            <a:spLocks xmlns:a="http://schemas.openxmlformats.org/drawingml/2006/main" noGrp="1"/>
          </p:cNvSpPr>
          <p:nvPr/>
        </p:nvSpPr>
        <p:spPr>
          <a:xfrm xmlns:a="http://schemas.openxmlformats.org/drawingml/2006/main">
            <a:off x="685800" y="3419475"/>
            <a:ext cx="70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78563"/>
                </a:solidFill>
                <a:latin typeface="Segoe UI"/>
                <a:ea typeface="Segoe UI"/>
                <a:cs typeface="Segoe UI"/>
              </a:defRPr>
            </a:defPPr>
          </a:lstStyle>
          <a:p xmlns:a="http://schemas.openxmlformats.org/drawingml/2006/main">
            <a:pPr>
              <a:defRPr sz="2550" b="1">
                <a:solidFill>
                  <a:srgbClr val="078563"/>
                </a:solidFill>
                <a:latin typeface="Segoe UI"/>
                <a:ea typeface="Segoe UI"/>
                <a:cs typeface="Segoe UI"/>
              </a:defRPr>
            </a:pPr>
            <a:r>
              <a:rPr sz="2550" b="1">
                <a:solidFill>
                  <a:srgbClr val="078563"/>
                </a:solidFill>
                <a:latin typeface="Segoe UI"/>
                <a:ea typeface="Segoe UI"/>
                <a:cs typeface="Segoe UI"/>
              </a:rPr>
              <a:t>03</a:t>
            </a:r>
          </a:p>
        </p:txBody>
      </p:sp>
      <p:sp>
        <p:nvSpPr>
          <p:cNvPr id="10" name="Propostas e acordo">
            <a:extLst xmlns:a="http://schemas.openxmlformats.org/drawingml/2006/main">
              <a:ext uri="{FF2B5EF4-FFF2-40B4-BE49-F238E27FC236}">
                <a16:creationId xmlns:a16="http://schemas.microsoft.com/office/drawing/2014/main" id="{1343F7AE-301E-4603-BEB5-863FB631ABF1}"/>
              </a:ext>
            </a:extLst>
          </p:cNvPr>
          <p:cNvSpPr>
            <a:spLocks xmlns:a="http://schemas.openxmlformats.org/drawingml/2006/main" noGrp="1"/>
          </p:cNvSpPr>
          <p:nvPr/>
        </p:nvSpPr>
        <p:spPr>
          <a:xfrm xmlns:a="http://schemas.openxmlformats.org/drawingml/2006/main">
            <a:off x="1685925" y="34194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0"/>
                </a:solidFill>
                <a:latin typeface="Segoe UI"/>
                <a:ea typeface="Segoe UI"/>
                <a:cs typeface="Segoe UI"/>
              </a:defRPr>
            </a:defPPr>
          </a:lstStyle>
          <a:p xmlns:a="http://schemas.openxmlformats.org/drawingml/2006/main">
            <a:pPr>
              <a:defRPr sz="2175" b="1">
                <a:solidFill>
                  <a:srgbClr val="203D30"/>
                </a:solidFill>
                <a:latin typeface="Segoe UI"/>
                <a:ea typeface="Segoe UI"/>
                <a:cs typeface="Segoe UI"/>
              </a:defRPr>
            </a:pPr>
            <a:r>
              <a:rPr sz="2175" b="1">
                <a:solidFill>
                  <a:srgbClr val="203D30"/>
                </a:solidFill>
                <a:latin typeface="Segoe UI"/>
                <a:ea typeface="Segoe UI"/>
                <a:cs typeface="Segoe UI"/>
              </a:rPr>
              <a:t>Propostas e acordo</a:t>
            </a:r>
          </a:p>
        </p:txBody>
      </p:sp>
      <p:sp>
        <p:nvSpPr>
          <p:cNvPr id="11" name="Outras organizações enviam ofertas. O vendedor confirma">
            <a:extLst xmlns:a="http://schemas.openxmlformats.org/drawingml/2006/main">
              <a:ext uri="{FF2B5EF4-FFF2-40B4-BE49-F238E27FC236}">
                <a16:creationId xmlns:a16="http://schemas.microsoft.com/office/drawing/2014/main" id="{6B306C8F-68A2-4DA6-9FE0-54B045FCBB8D}"/>
              </a:ext>
            </a:extLst>
          </p:cNvPr>
          <p:cNvSpPr>
            <a:spLocks xmlns:a="http://schemas.openxmlformats.org/drawingml/2006/main" noGrp="1"/>
          </p:cNvSpPr>
          <p:nvPr/>
        </p:nvSpPr>
        <p:spPr>
          <a:xfrm xmlns:a="http://schemas.openxmlformats.org/drawingml/2006/main">
            <a:off x="1685925" y="382905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Outras organizações enviam ofertas. O vendedor confirma a negociação.</a:t>
            </a:r>
          </a:p>
        </p:txBody>
      </p:sp>
      <p:sp>
        <p:nvSpPr>
          <p:cNvPr id="12" name="04">
            <a:extLst xmlns:a="http://schemas.openxmlformats.org/drawingml/2006/main">
              <a:ext uri="{FF2B5EF4-FFF2-40B4-BE49-F238E27FC236}">
                <a16:creationId xmlns:a16="http://schemas.microsoft.com/office/drawing/2014/main" id="{484DEFDB-EE73-405A-93E4-C416C0ACDFA5}"/>
              </a:ext>
            </a:extLst>
          </p:cNvPr>
          <p:cNvSpPr>
            <a:spLocks xmlns:a="http://schemas.openxmlformats.org/drawingml/2006/main" noGrp="1"/>
          </p:cNvSpPr>
          <p:nvPr/>
        </p:nvSpPr>
        <p:spPr>
          <a:xfrm xmlns:a="http://schemas.openxmlformats.org/drawingml/2006/main">
            <a:off x="685800" y="4286250"/>
            <a:ext cx="70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78563"/>
                </a:solidFill>
                <a:latin typeface="Segoe UI"/>
                <a:ea typeface="Segoe UI"/>
                <a:cs typeface="Segoe UI"/>
              </a:defRPr>
            </a:defPPr>
          </a:lstStyle>
          <a:p xmlns:a="http://schemas.openxmlformats.org/drawingml/2006/main">
            <a:pPr>
              <a:defRPr sz="2550" b="1">
                <a:solidFill>
                  <a:srgbClr val="078563"/>
                </a:solidFill>
                <a:latin typeface="Segoe UI"/>
                <a:ea typeface="Segoe UI"/>
                <a:cs typeface="Segoe UI"/>
              </a:defRPr>
            </a:pPr>
            <a:r>
              <a:rPr sz="2550" b="1">
                <a:solidFill>
                  <a:srgbClr val="078563"/>
                </a:solidFill>
                <a:latin typeface="Segoe UI"/>
                <a:ea typeface="Segoe UI"/>
                <a:cs typeface="Segoe UI"/>
              </a:rPr>
              <a:t>04</a:t>
            </a:r>
          </a:p>
        </p:txBody>
      </p:sp>
      <p:sp>
        <p:nvSpPr>
          <p:cNvPr id="13" name="Coleta e transporte">
            <a:extLst xmlns:a="http://schemas.openxmlformats.org/drawingml/2006/main">
              <a:ext uri="{FF2B5EF4-FFF2-40B4-BE49-F238E27FC236}">
                <a16:creationId xmlns:a16="http://schemas.microsoft.com/office/drawing/2014/main" id="{2D5F6D8E-E424-4033-B41D-BBA42B43E753}"/>
              </a:ext>
            </a:extLst>
          </p:cNvPr>
          <p:cNvSpPr>
            <a:spLocks xmlns:a="http://schemas.openxmlformats.org/drawingml/2006/main" noGrp="1"/>
          </p:cNvSpPr>
          <p:nvPr/>
        </p:nvSpPr>
        <p:spPr>
          <a:xfrm xmlns:a="http://schemas.openxmlformats.org/drawingml/2006/main">
            <a:off x="1685925" y="42862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0"/>
                </a:solidFill>
                <a:latin typeface="Segoe UI"/>
                <a:ea typeface="Segoe UI"/>
                <a:cs typeface="Segoe UI"/>
              </a:defRPr>
            </a:defPPr>
          </a:lstStyle>
          <a:p xmlns:a="http://schemas.openxmlformats.org/drawingml/2006/main">
            <a:pPr>
              <a:defRPr sz="2175" b="1">
                <a:solidFill>
                  <a:srgbClr val="203D30"/>
                </a:solidFill>
                <a:latin typeface="Segoe UI"/>
                <a:ea typeface="Segoe UI"/>
                <a:cs typeface="Segoe UI"/>
              </a:defRPr>
            </a:pPr>
            <a:r>
              <a:rPr sz="2175" b="1">
                <a:solidFill>
                  <a:srgbClr val="203D30"/>
                </a:solidFill>
                <a:latin typeface="Segoe UI"/>
                <a:ea typeface="Segoe UI"/>
                <a:cs typeface="Segoe UI"/>
              </a:rPr>
              <a:t>Coleta e transporte</a:t>
            </a:r>
          </a:p>
        </p:txBody>
      </p:sp>
      <p:sp>
        <p:nvSpPr>
          <p:cNvPr id="14" name="Uma das partes escolhe a empresa responsável e agenda a">
            <a:extLst xmlns:a="http://schemas.openxmlformats.org/drawingml/2006/main">
              <a:ext uri="{FF2B5EF4-FFF2-40B4-BE49-F238E27FC236}">
                <a16:creationId xmlns:a16="http://schemas.microsoft.com/office/drawing/2014/main" id="{CE3F6A38-68C4-493A-9F24-76F7D867E646}"/>
              </a:ext>
            </a:extLst>
          </p:cNvPr>
          <p:cNvSpPr>
            <a:spLocks xmlns:a="http://schemas.openxmlformats.org/drawingml/2006/main" noGrp="1"/>
          </p:cNvSpPr>
          <p:nvPr/>
        </p:nvSpPr>
        <p:spPr>
          <a:xfrm xmlns:a="http://schemas.openxmlformats.org/drawingml/2006/main">
            <a:off x="1685925" y="4695825"/>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Uma das partes escolhe a empresa responsável e agenda a coleta.</a:t>
            </a:r>
          </a:p>
        </p:txBody>
      </p:sp>
      <p:sp>
        <p:nvSpPr>
          <p:cNvPr id="15" name="05">
            <a:extLst xmlns:a="http://schemas.openxmlformats.org/drawingml/2006/main">
              <a:ext uri="{FF2B5EF4-FFF2-40B4-BE49-F238E27FC236}">
                <a16:creationId xmlns:a16="http://schemas.microsoft.com/office/drawing/2014/main" id="{CB02481E-1575-4A62-B2B8-DB1C104571A0}"/>
              </a:ext>
            </a:extLst>
          </p:cNvPr>
          <p:cNvSpPr>
            <a:spLocks xmlns:a="http://schemas.openxmlformats.org/drawingml/2006/main" noGrp="1"/>
          </p:cNvSpPr>
          <p:nvPr/>
        </p:nvSpPr>
        <p:spPr>
          <a:xfrm xmlns:a="http://schemas.openxmlformats.org/drawingml/2006/main">
            <a:off x="685800" y="5153025"/>
            <a:ext cx="70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078563"/>
                </a:solidFill>
                <a:latin typeface="Segoe UI"/>
                <a:ea typeface="Segoe UI"/>
                <a:cs typeface="Segoe UI"/>
              </a:defRPr>
            </a:defPPr>
          </a:lstStyle>
          <a:p xmlns:a="http://schemas.openxmlformats.org/drawingml/2006/main">
            <a:pPr>
              <a:defRPr sz="2550" b="1">
                <a:solidFill>
                  <a:srgbClr val="078563"/>
                </a:solidFill>
                <a:latin typeface="Segoe UI"/>
                <a:ea typeface="Segoe UI"/>
                <a:cs typeface="Segoe UI"/>
              </a:defRPr>
            </a:pPr>
            <a:r>
              <a:rPr sz="2550" b="1">
                <a:solidFill>
                  <a:srgbClr val="078563"/>
                </a:solidFill>
                <a:latin typeface="Segoe UI"/>
                <a:ea typeface="Segoe UI"/>
                <a:cs typeface="Segoe UI"/>
              </a:rPr>
              <a:t>05</a:t>
            </a:r>
          </a:p>
        </p:txBody>
      </p:sp>
      <p:sp>
        <p:nvSpPr>
          <p:cNvPr id="16" name="Entrega e acompanhamento">
            <a:extLst xmlns:a="http://schemas.openxmlformats.org/drawingml/2006/main">
              <a:ext uri="{FF2B5EF4-FFF2-40B4-BE49-F238E27FC236}">
                <a16:creationId xmlns:a16="http://schemas.microsoft.com/office/drawing/2014/main" id="{33A72BC8-C11A-4A79-8559-2C12D418D95E}"/>
              </a:ext>
            </a:extLst>
          </p:cNvPr>
          <p:cNvSpPr>
            <a:spLocks xmlns:a="http://schemas.openxmlformats.org/drawingml/2006/main" noGrp="1"/>
          </p:cNvSpPr>
          <p:nvPr/>
        </p:nvSpPr>
        <p:spPr>
          <a:xfrm xmlns:a="http://schemas.openxmlformats.org/drawingml/2006/main">
            <a:off x="1685925" y="51530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03D30"/>
                </a:solidFill>
                <a:latin typeface="Segoe UI"/>
                <a:ea typeface="Segoe UI"/>
                <a:cs typeface="Segoe UI"/>
              </a:defRPr>
            </a:defPPr>
          </a:lstStyle>
          <a:p xmlns:a="http://schemas.openxmlformats.org/drawingml/2006/main">
            <a:pPr>
              <a:defRPr sz="2175" b="1">
                <a:solidFill>
                  <a:srgbClr val="203D30"/>
                </a:solidFill>
                <a:latin typeface="Segoe UI"/>
                <a:ea typeface="Segoe UI"/>
                <a:cs typeface="Segoe UI"/>
              </a:defRPr>
            </a:pPr>
            <a:r>
              <a:rPr sz="2175" b="1">
                <a:solidFill>
                  <a:srgbClr val="203D30"/>
                </a:solidFill>
                <a:latin typeface="Segoe UI"/>
                <a:ea typeface="Segoe UI"/>
                <a:cs typeface="Segoe UI"/>
              </a:rPr>
              <a:t>Entrega e acompanhamento</a:t>
            </a:r>
          </a:p>
        </p:txBody>
      </p:sp>
      <p:sp>
        <p:nvSpPr>
          <p:cNvPr id="17" name="As partes acompanham a situação e os indicadores da org">
            <a:extLst xmlns:a="http://schemas.openxmlformats.org/drawingml/2006/main">
              <a:ext uri="{FF2B5EF4-FFF2-40B4-BE49-F238E27FC236}">
                <a16:creationId xmlns:a16="http://schemas.microsoft.com/office/drawing/2014/main" id="{77872A42-36D9-4F4D-8CFF-BC3C04131414}"/>
              </a:ext>
            </a:extLst>
          </p:cNvPr>
          <p:cNvSpPr>
            <a:spLocks xmlns:a="http://schemas.openxmlformats.org/drawingml/2006/main" noGrp="1"/>
          </p:cNvSpPr>
          <p:nvPr/>
        </p:nvSpPr>
        <p:spPr>
          <a:xfrm xmlns:a="http://schemas.openxmlformats.org/drawingml/2006/main">
            <a:off x="1685925" y="5562600"/>
            <a:ext cx="962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C8274"/>
                </a:solidFill>
                <a:latin typeface="Segoe UI"/>
                <a:ea typeface="Segoe UI"/>
                <a:cs typeface="Segoe UI"/>
              </a:defRPr>
            </a:defPPr>
          </a:lstStyle>
          <a:p xmlns:a="http://schemas.openxmlformats.org/drawingml/2006/main">
            <a:pPr>
              <a:defRPr sz="1725" b="0">
                <a:solidFill>
                  <a:srgbClr val="6C8274"/>
                </a:solidFill>
                <a:latin typeface="Segoe UI"/>
                <a:ea typeface="Segoe UI"/>
                <a:cs typeface="Segoe UI"/>
              </a:defRPr>
            </a:pPr>
            <a:r>
              <a:rPr sz="1725" b="0">
                <a:solidFill>
                  <a:srgbClr val="6C8274"/>
                </a:solidFill>
                <a:latin typeface="Segoe UI"/>
                <a:ea typeface="Segoe UI"/>
                <a:cs typeface="Segoe UI"/>
              </a:rPr>
              <a:t>As partes acompanham a situação e os indicadores da organização.</a:t>
            </a:r>
          </a:p>
        </p:txBody>
      </p:sp>
    </p:spTree>
    <p:extLst>
      <p:ext uri="{BB962C8B-B14F-4D97-AF65-F5344CB8AC3E}">
        <p14:creationId xmlns:p14="http://schemas.microsoft.com/office/powerpoint/2010/main" val="1548951275"/>
      </p:ext>
    </p:extLst>
  </p:cSld>
</p:sld>
</file>

<file path=ppt/slides/slide4.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8" name="Avaliação visual com revisão humana">
            <a:extLst xmlns:a="http://schemas.openxmlformats.org/drawingml/2006/main">
              <a:ext uri="{FF2B5EF4-FFF2-40B4-BE49-F238E27FC236}">
                <a16:creationId xmlns:a16="http://schemas.microsoft.com/office/drawing/2014/main" id="{FCBF7B76-6BFD-4CAF-8D3C-887845A4DF10}"/>
              </a:ext>
            </a:extLst>
          </p:cNvPr>
          <p:cNvSpPr>
            <a:spLocks xmlns:a="http://schemas.openxmlformats.org/drawingml/2006/main" noGrp="1"/>
          </p:cNvSpPr>
          <p:nvPr/>
        </p:nvSpPr>
        <p:spPr>
          <a:xfrm xmlns:a="http://schemas.openxmlformats.org/drawingml/2006/main">
            <a:off x="685800" y="552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D30"/>
                </a:solidFill>
                <a:latin typeface="Segoe UI"/>
                <a:ea typeface="Segoe UI"/>
                <a:cs typeface="Segoe UI"/>
              </a:defRPr>
            </a:defPPr>
          </a:lstStyle>
          <a:p xmlns:a="http://schemas.openxmlformats.org/drawingml/2006/main">
            <a:pPr>
              <a:defRPr sz="3300" b="1">
                <a:solidFill>
                  <a:srgbClr val="203D30"/>
                </a:solidFill>
                <a:latin typeface="Segoe UI"/>
                <a:ea typeface="Segoe UI"/>
                <a:cs typeface="Segoe UI"/>
              </a:defRPr>
            </a:pPr>
            <a:r>
              <a:rPr sz="3300" b="1">
                <a:solidFill>
                  <a:srgbClr val="203D30"/>
                </a:solidFill>
                <a:latin typeface="Segoe UI"/>
                <a:ea typeface="Segoe UI"/>
                <a:cs typeface="Segoe UI"/>
              </a:rPr>
              <a:t>Avaliação visual com revisão humana</a:t>
            </a:r>
          </a:p>
        </p:txBody>
      </p:sp>
      <p:sp>
        <p:nvSpPr>
          <p:cNvPr id="2" name="4 / 6">
            <a:extLst xmlns:a="http://schemas.openxmlformats.org/drawingml/2006/main">
              <a:ext uri="{FF2B5EF4-FFF2-40B4-BE49-F238E27FC236}">
                <a16:creationId xmlns:a16="http://schemas.microsoft.com/office/drawing/2014/main" id="{8126D853-A16E-49F4-8454-B796E20B2954}"/>
              </a:ext>
            </a:extLst>
          </p:cNvPr>
          <p:cNvSpPr>
            <a:spLocks xmlns:a="http://schemas.openxmlformats.org/drawingml/2006/main" noGrp="1"/>
          </p:cNvSpPr>
          <p:nvPr/>
        </p:nvSpPr>
        <p:spPr>
          <a:xfrm xmlns:a="http://schemas.openxmlformats.org/drawingml/2006/main">
            <a:off x="10763250" y="6381750"/>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C8274"/>
                </a:solidFill>
                <a:latin typeface="Segoe UI"/>
                <a:ea typeface="Segoe UI"/>
                <a:cs typeface="Segoe UI"/>
              </a:defRPr>
            </a:defPPr>
          </a:lstStyle>
          <a:p xmlns:a="http://schemas.openxmlformats.org/drawingml/2006/main">
            <a:pPr>
              <a:defRPr sz="1275" b="0">
                <a:solidFill>
                  <a:srgbClr val="6C8274"/>
                </a:solidFill>
                <a:latin typeface="Segoe UI"/>
                <a:ea typeface="Segoe UI"/>
                <a:cs typeface="Segoe UI"/>
              </a:defRPr>
            </a:pPr>
            <a:r>
              <a:rPr sz="1275" b="0">
                <a:solidFill>
                  <a:srgbClr val="6C8274"/>
                </a:solidFill>
                <a:latin typeface="Segoe UI"/>
                <a:ea typeface="Segoe UI"/>
                <a:cs typeface="Segoe UI"/>
              </a:rPr>
              <a:t>4 / 6</a:t>
            </a:r>
          </a:p>
        </p:txBody>
      </p:sp>
      <p:sp>
        <p:nvSpPr>
          <p:cNvPr id="3" name="O modelo destaca sinais&#10;de corrosão nas fotos.">
            <a:extLst xmlns:a="http://schemas.openxmlformats.org/drawingml/2006/main">
              <a:ext uri="{FF2B5EF4-FFF2-40B4-BE49-F238E27FC236}">
                <a16:creationId xmlns:a16="http://schemas.microsoft.com/office/drawing/2014/main" id="{E98F80B4-A293-46B4-A55A-A1DFEC7AA07F}"/>
              </a:ext>
            </a:extLst>
          </p:cNvPr>
          <p:cNvSpPr>
            <a:spLocks xmlns:a="http://schemas.openxmlformats.org/drawingml/2006/main" noGrp="1"/>
          </p:cNvSpPr>
          <p:nvPr/>
        </p:nvSpPr>
        <p:spPr>
          <a:xfrm xmlns:a="http://schemas.openxmlformats.org/drawingml/2006/main">
            <a:off x="685800" y="1857375"/>
            <a:ext cx="5048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78563"/>
                </a:solidFill>
                <a:latin typeface="Segoe UI"/>
                <a:ea typeface="Segoe UI"/>
                <a:cs typeface="Segoe UI"/>
              </a:defRPr>
            </a:defPPr>
          </a:lstStyle>
          <a:p xmlns:a="http://schemas.openxmlformats.org/drawingml/2006/main">
            <a:pPr>
              <a:defRPr sz="2400" b="1">
                <a:solidFill>
                  <a:srgbClr val="078563"/>
                </a:solidFill>
                <a:latin typeface="Segoe UI"/>
                <a:ea typeface="Segoe UI"/>
                <a:cs typeface="Segoe UI"/>
              </a:defRPr>
            </a:pPr>
            <a:r>
              <a:rPr sz="2400" b="1">
                <a:solidFill>
                  <a:srgbClr val="078563"/>
                </a:solidFill>
                <a:latin typeface="Segoe UI"/>
                <a:ea typeface="Segoe UI"/>
                <a:cs typeface="Segoe UI"/>
              </a:rPr>
              <a:t>O modelo destaca sinais</a:t>
            </a:r>
          </a:p>
          <a:p xmlns:a="http://schemas.openxmlformats.org/drawingml/2006/main">
            <a:pPr>
              <a:defRPr sz="2400" b="1">
                <a:solidFill>
                  <a:srgbClr val="078563"/>
                </a:solidFill>
                <a:latin typeface="Segoe UI"/>
                <a:ea typeface="Segoe UI"/>
                <a:cs typeface="Segoe UI"/>
              </a:defRPr>
            </a:pPr>
            <a:r>
              <a:rPr sz="2400" b="1">
                <a:solidFill>
                  <a:srgbClr val="078563"/>
                </a:solidFill>
                <a:latin typeface="Segoe UI"/>
                <a:ea typeface="Segoe UI"/>
                <a:cs typeface="Segoe UI"/>
              </a:rPr>
              <a:t>de corrosão nas fotos.</a:t>
            </a:r>
          </a:p>
        </p:txBody>
      </p:sp>
      <p:sp>
        <p:nvSpPr>
          <p:cNvPr id="4" name="O operador compara a imagem original com a máscara, rev">
            <a:extLst xmlns:a="http://schemas.openxmlformats.org/drawingml/2006/main">
              <a:ext uri="{FF2B5EF4-FFF2-40B4-BE49-F238E27FC236}">
                <a16:creationId xmlns:a16="http://schemas.microsoft.com/office/drawing/2014/main" id="{9E14AF17-0E18-4B01-A690-9FB8B92CE1F4}"/>
              </a:ext>
            </a:extLst>
          </p:cNvPr>
          <p:cNvSpPr>
            <a:spLocks xmlns:a="http://schemas.openxmlformats.org/drawingml/2006/main" noGrp="1"/>
          </p:cNvSpPr>
          <p:nvPr/>
        </p:nvSpPr>
        <p:spPr>
          <a:xfrm xmlns:a="http://schemas.openxmlformats.org/drawingml/2006/main">
            <a:off x="685800" y="3257550"/>
            <a:ext cx="4714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0"/>
                </a:solidFill>
                <a:latin typeface="Segoe UI"/>
                <a:ea typeface="Segoe UI"/>
                <a:cs typeface="Segoe UI"/>
              </a:defRPr>
            </a:defPPr>
          </a:lstStyle>
          <a:p xmlns:a="http://schemas.openxmlformats.org/drawingml/2006/main">
            <a:pPr>
              <a:defRPr sz="2100" b="0">
                <a:solidFill>
                  <a:srgbClr val="203D30"/>
                </a:solidFill>
                <a:latin typeface="Segoe UI"/>
                <a:ea typeface="Segoe UI"/>
                <a:cs typeface="Segoe UI"/>
              </a:defRPr>
            </a:pPr>
            <a:r>
              <a:rPr sz="2100" b="0">
                <a:solidFill>
                  <a:srgbClr val="203D30"/>
                </a:solidFill>
                <a:latin typeface="Segoe UI"/>
                <a:ea typeface="Segoe UI"/>
                <a:cs typeface="Segoe UI"/>
              </a:rPr>
              <a:t>O operador compara a imagem original com a máscara, revisa o resultado e registra sua observação.</a:t>
            </a:r>
          </a:p>
        </p:txBody>
      </p:sp>
      <p:sp>
        <p:nvSpPr>
          <p:cNvPr id="5" name="Disponível para aço e ferro.&#10;Não mede pureza química.">
            <a:extLst xmlns:a="http://schemas.openxmlformats.org/drawingml/2006/main">
              <a:ext uri="{FF2B5EF4-FFF2-40B4-BE49-F238E27FC236}">
                <a16:creationId xmlns:a16="http://schemas.microsoft.com/office/drawing/2014/main" id="{0D2724B2-9D3D-4E61-8F41-9A72182B36B1}"/>
              </a:ext>
            </a:extLst>
          </p:cNvPr>
          <p:cNvSpPr>
            <a:spLocks xmlns:a="http://schemas.openxmlformats.org/drawingml/2006/main" noGrp="1"/>
          </p:cNvSpPr>
          <p:nvPr/>
        </p:nvSpPr>
        <p:spPr>
          <a:xfrm xmlns:a="http://schemas.openxmlformats.org/drawingml/2006/main">
            <a:off x="685800" y="5219700"/>
            <a:ext cx="4810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C8274"/>
                </a:solidFill>
                <a:latin typeface="Segoe UI"/>
                <a:ea typeface="Segoe UI"/>
                <a:cs typeface="Segoe UI"/>
              </a:defRPr>
            </a:defPPr>
          </a:lstStyle>
          <a:p xmlns:a="http://schemas.openxmlformats.org/drawingml/2006/main">
            <a:pPr>
              <a:defRPr sz="1875" b="0">
                <a:solidFill>
                  <a:srgbClr val="6C8274"/>
                </a:solidFill>
                <a:latin typeface="Segoe UI"/>
                <a:ea typeface="Segoe UI"/>
                <a:cs typeface="Segoe UI"/>
              </a:defRPr>
            </a:pPr>
            <a:r>
              <a:rPr sz="1875" b="0">
                <a:solidFill>
                  <a:srgbClr val="6C8274"/>
                </a:solidFill>
                <a:latin typeface="Segoe UI"/>
                <a:ea typeface="Segoe UI"/>
                <a:cs typeface="Segoe UI"/>
              </a:rPr>
              <a:t>Disponível para aço e ferro.</a:t>
            </a:r>
          </a:p>
          <a:p xmlns:a="http://schemas.openxmlformats.org/drawingml/2006/main">
            <a:pPr>
              <a:defRPr sz="1875" b="0">
                <a:solidFill>
                  <a:srgbClr val="6C8274"/>
                </a:solidFill>
                <a:latin typeface="Segoe UI"/>
                <a:ea typeface="Segoe UI"/>
                <a:cs typeface="Segoe UI"/>
              </a:defRPr>
            </a:pPr>
            <a:r>
              <a:rPr sz="1875" b="0">
                <a:solidFill>
                  <a:srgbClr val="6C8274"/>
                </a:solidFill>
                <a:latin typeface="Segoe UI"/>
                <a:ea typeface="Segoe UI"/>
                <a:cs typeface="Segoe UI"/>
              </a:rPr>
              <a:t>Não mede pureza química.</a:t>
            </a:r>
          </a:p>
        </p:txBody>
      </p:sp>
      <p:pic>
        <p:nvPicPr>
          <p:cNvPr id="6" name="">
            <a:extLst xmlns:a="http://schemas.openxmlformats.org/drawingml/2006/main">
              <a:ext uri="{FF2B5EF4-FFF2-40B4-BE49-F238E27FC236}">
                <a16:creationId xmlns:a16="http://schemas.microsoft.com/office/drawing/2014/main" id="{08061A0A-C301-42AA-AF0E-567AAB6CC23E}"/>
              </a:ext>
            </a:extLst>
          </p:cNvPr>
          <p:cNvPicPr>
            <a:picLocks xmlns:a="http://schemas.openxmlformats.org/drawingml/2006/main" noChangeAspect="1"/>
          </p:cNvPicPr>
          <p:nvPr/>
        </p:nvPicPr>
        <p:blipFill>
          <a:blip xmlns:r="http://schemas.openxmlformats.org/officeDocument/2006/relationships" xmlns:a="http://schemas.openxmlformats.org/drawingml/2006/main" r:embed="R9c320f0d47124cfe"/>
          <a:stretch xmlns:a="http://schemas.openxmlformats.org/drawingml/2006/main"/>
        </p:blipFill>
        <p:spPr>
          <a:xfrm xmlns:a="http://schemas.openxmlformats.org/drawingml/2006/main">
            <a:off x="6320170" y="1438275"/>
            <a:ext cx="4961860" cy="4762500"/>
          </a:xfrm>
          <a:prstGeom xmlns:a="http://schemas.openxmlformats.org/drawingml/2006/main" prst="rect">
            <a:avLst/>
          </a:prstGeom>
        </p:spPr>
      </p:pic>
      <p:sp>
        <p:nvSpPr>
          <p:cNvPr id="7" name="Demonstração real do modelo sobre uma imagem de exemplo">
            <a:extLst xmlns:a="http://schemas.openxmlformats.org/drawingml/2006/main">
              <a:ext uri="{FF2B5EF4-FFF2-40B4-BE49-F238E27FC236}">
                <a16:creationId xmlns:a16="http://schemas.microsoft.com/office/drawing/2014/main" id="{3F5B7926-3E3A-48E2-9C23-F0FEF1CBFA6C}"/>
              </a:ext>
            </a:extLst>
          </p:cNvPr>
          <p:cNvSpPr>
            <a:spLocks xmlns:a="http://schemas.openxmlformats.org/drawingml/2006/main" noGrp="1"/>
          </p:cNvSpPr>
          <p:nvPr/>
        </p:nvSpPr>
        <p:spPr>
          <a:xfrm xmlns:a="http://schemas.openxmlformats.org/drawingml/2006/main">
            <a:off x="6191250" y="62007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C8274"/>
                </a:solidFill>
                <a:latin typeface="Segoe UI"/>
                <a:ea typeface="Segoe UI"/>
                <a:cs typeface="Segoe UI"/>
              </a:defRPr>
            </a:defPPr>
          </a:lstStyle>
          <a:p xmlns:a="http://schemas.openxmlformats.org/drawingml/2006/main">
            <a:pPr>
              <a:defRPr sz="1200" b="0">
                <a:solidFill>
                  <a:srgbClr val="6C8274"/>
                </a:solidFill>
                <a:latin typeface="Segoe UI"/>
                <a:ea typeface="Segoe UI"/>
                <a:cs typeface="Segoe UI"/>
              </a:defRPr>
            </a:pPr>
            <a:r>
              <a:rPr sz="1200" b="0">
                <a:solidFill>
                  <a:srgbClr val="6C8274"/>
                </a:solidFill>
                <a:latin typeface="Segoe UI"/>
                <a:ea typeface="Segoe UI"/>
                <a:cs typeface="Segoe UI"/>
              </a:rPr>
              <a:t>Demonstração real do modelo sobre uma imagem de exemplo</a:t>
            </a:r>
          </a:p>
        </p:txBody>
      </p:sp>
    </p:spTree>
    <p:extLst>
      <p:ext uri="{BB962C8B-B14F-4D97-AF65-F5344CB8AC3E}">
        <p14:creationId xmlns:p14="http://schemas.microsoft.com/office/powerpoint/2010/main" val="971251587"/>
      </p:ext>
    </p:extLst>
  </p:cSld>
</p:sld>
</file>

<file path=ppt/slides/slide5.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9" name="Responsável pelo transporte">
            <a:extLst xmlns:a="http://schemas.openxmlformats.org/drawingml/2006/main">
              <a:ext uri="{FF2B5EF4-FFF2-40B4-BE49-F238E27FC236}">
                <a16:creationId xmlns:a16="http://schemas.microsoft.com/office/drawing/2014/main" id="{F6579F98-72EF-4272-A87B-60E2B3EEF592}"/>
              </a:ext>
            </a:extLst>
          </p:cNvPr>
          <p:cNvSpPr>
            <a:spLocks xmlns:a="http://schemas.openxmlformats.org/drawingml/2006/main" noGrp="1"/>
          </p:cNvSpPr>
          <p:nvPr/>
        </p:nvSpPr>
        <p:spPr>
          <a:xfrm xmlns:a="http://schemas.openxmlformats.org/drawingml/2006/main">
            <a:off x="685800" y="552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03D30"/>
                </a:solidFill>
                <a:latin typeface="Segoe UI"/>
                <a:ea typeface="Segoe UI"/>
                <a:cs typeface="Segoe UI"/>
              </a:defRPr>
            </a:defPPr>
          </a:lstStyle>
          <a:p xmlns:a="http://schemas.openxmlformats.org/drawingml/2006/main">
            <a:pPr>
              <a:defRPr sz="3300" b="1">
                <a:solidFill>
                  <a:srgbClr val="203D30"/>
                </a:solidFill>
                <a:latin typeface="Segoe UI"/>
                <a:ea typeface="Segoe UI"/>
                <a:cs typeface="Segoe UI"/>
              </a:defRPr>
            </a:pPr>
            <a:r>
              <a:rPr sz="3300" b="1">
                <a:solidFill>
                  <a:srgbClr val="203D30"/>
                </a:solidFill>
                <a:latin typeface="Segoe UI"/>
                <a:ea typeface="Segoe UI"/>
                <a:cs typeface="Segoe UI"/>
              </a:rPr>
              <a:t>Responsável pelo transporte</a:t>
            </a:r>
          </a:p>
        </p:txBody>
      </p:sp>
      <p:sp>
        <p:nvSpPr>
          <p:cNvPr id="2" name="5 / 6">
            <a:extLst xmlns:a="http://schemas.openxmlformats.org/drawingml/2006/main">
              <a:ext uri="{FF2B5EF4-FFF2-40B4-BE49-F238E27FC236}">
                <a16:creationId xmlns:a16="http://schemas.microsoft.com/office/drawing/2014/main" id="{BE14E9FD-A856-4DD9-9C27-21F44123C76F}"/>
              </a:ext>
            </a:extLst>
          </p:cNvPr>
          <p:cNvSpPr>
            <a:spLocks xmlns:a="http://schemas.openxmlformats.org/drawingml/2006/main" noGrp="1"/>
          </p:cNvSpPr>
          <p:nvPr/>
        </p:nvSpPr>
        <p:spPr>
          <a:xfrm xmlns:a="http://schemas.openxmlformats.org/drawingml/2006/main">
            <a:off x="10763250" y="6381750"/>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C8274"/>
                </a:solidFill>
                <a:latin typeface="Segoe UI"/>
                <a:ea typeface="Segoe UI"/>
                <a:cs typeface="Segoe UI"/>
              </a:defRPr>
            </a:defPPr>
          </a:lstStyle>
          <a:p xmlns:a="http://schemas.openxmlformats.org/drawingml/2006/main">
            <a:pPr>
              <a:defRPr sz="1275" b="0">
                <a:solidFill>
                  <a:srgbClr val="6C8274"/>
                </a:solidFill>
                <a:latin typeface="Segoe UI"/>
                <a:ea typeface="Segoe UI"/>
                <a:cs typeface="Segoe UI"/>
              </a:defRPr>
            </a:pPr>
            <a:r>
              <a:rPr sz="1275" b="0">
                <a:solidFill>
                  <a:srgbClr val="6C8274"/>
                </a:solidFill>
                <a:latin typeface="Segoe UI"/>
                <a:ea typeface="Segoe UI"/>
                <a:cs typeface="Segoe UI"/>
              </a:rPr>
              <a:t>5 / 6</a:t>
            </a:r>
          </a:p>
        </p:txBody>
      </p:sp>
      <p:sp>
        <p:nvSpPr>
          <p:cNvPr id="3" name="Quem vende ou compra&#10;pode fazer a escolha.">
            <a:extLst xmlns:a="http://schemas.openxmlformats.org/drawingml/2006/main">
              <a:ext uri="{FF2B5EF4-FFF2-40B4-BE49-F238E27FC236}">
                <a16:creationId xmlns:a16="http://schemas.microsoft.com/office/drawing/2014/main" id="{16203440-2094-427D-B9F2-2B29550D9D15}"/>
              </a:ext>
            </a:extLst>
          </p:cNvPr>
          <p:cNvSpPr>
            <a:spLocks xmlns:a="http://schemas.openxmlformats.org/drawingml/2006/main" noGrp="1"/>
          </p:cNvSpPr>
          <p:nvPr/>
        </p:nvSpPr>
        <p:spPr>
          <a:xfrm xmlns:a="http://schemas.openxmlformats.org/drawingml/2006/main">
            <a:off x="685800" y="18097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78563"/>
                </a:solidFill>
                <a:latin typeface="Segoe UI"/>
                <a:ea typeface="Segoe UI"/>
                <a:cs typeface="Segoe UI"/>
              </a:defRPr>
            </a:defPPr>
          </a:lstStyle>
          <a:p xmlns:a="http://schemas.openxmlformats.org/drawingml/2006/main">
            <a:pPr>
              <a:defRPr sz="2400" b="1">
                <a:solidFill>
                  <a:srgbClr val="078563"/>
                </a:solidFill>
                <a:latin typeface="Segoe UI"/>
                <a:ea typeface="Segoe UI"/>
                <a:cs typeface="Segoe UI"/>
              </a:defRPr>
            </a:pPr>
            <a:r>
              <a:rPr sz="2400" b="1">
                <a:solidFill>
                  <a:srgbClr val="078563"/>
                </a:solidFill>
                <a:latin typeface="Segoe UI"/>
                <a:ea typeface="Segoe UI"/>
                <a:cs typeface="Segoe UI"/>
              </a:rPr>
              <a:t>Quem vende ou compra</a:t>
            </a:r>
          </a:p>
          <a:p xmlns:a="http://schemas.openxmlformats.org/drawingml/2006/main">
            <a:pPr>
              <a:defRPr sz="2400" b="1">
                <a:solidFill>
                  <a:srgbClr val="078563"/>
                </a:solidFill>
                <a:latin typeface="Segoe UI"/>
                <a:ea typeface="Segoe UI"/>
                <a:cs typeface="Segoe UI"/>
              </a:defRPr>
            </a:pPr>
            <a:r>
              <a:rPr sz="2400" b="1">
                <a:solidFill>
                  <a:srgbClr val="078563"/>
                </a:solidFill>
                <a:latin typeface="Segoe UI"/>
                <a:ea typeface="Segoe UI"/>
                <a:cs typeface="Segoe UI"/>
              </a:rPr>
              <a:t>pode fazer a escolha.</a:t>
            </a:r>
          </a:p>
        </p:txBody>
      </p:sp>
      <p:sp>
        <p:nvSpPr>
          <p:cNvPr id="4" name="Transportadora cadastrada">
            <a:extLst xmlns:a="http://schemas.openxmlformats.org/drawingml/2006/main">
              <a:ext uri="{FF2B5EF4-FFF2-40B4-BE49-F238E27FC236}">
                <a16:creationId xmlns:a16="http://schemas.microsoft.com/office/drawing/2014/main" id="{1F2B96CD-BC02-48BB-9E0E-6F81072F9D95}"/>
              </a:ext>
            </a:extLst>
          </p:cNvPr>
          <p:cNvSpPr>
            <a:spLocks xmlns:a="http://schemas.openxmlformats.org/drawingml/2006/main" noGrp="1"/>
          </p:cNvSpPr>
          <p:nvPr/>
        </p:nvSpPr>
        <p:spPr>
          <a:xfrm xmlns:a="http://schemas.openxmlformats.org/drawingml/2006/main">
            <a:off x="685800" y="336232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03D30"/>
                </a:solidFill>
                <a:latin typeface="Segoe UI"/>
                <a:ea typeface="Segoe UI"/>
                <a:cs typeface="Segoe UI"/>
              </a:defRPr>
            </a:defPPr>
          </a:lstStyle>
          <a:p xmlns:a="http://schemas.openxmlformats.org/drawingml/2006/main">
            <a:pPr>
              <a:defRPr sz="2100" b="1">
                <a:solidFill>
                  <a:srgbClr val="203D30"/>
                </a:solidFill>
                <a:latin typeface="Segoe UI"/>
                <a:ea typeface="Segoe UI"/>
                <a:cs typeface="Segoe UI"/>
              </a:defRPr>
            </a:pPr>
            <a:r>
              <a:rPr sz="2100" b="1">
                <a:solidFill>
                  <a:srgbClr val="203D30"/>
                </a:solidFill>
                <a:latin typeface="Segoe UI"/>
                <a:ea typeface="Segoe UI"/>
                <a:cs typeface="Segoe UI"/>
              </a:rPr>
              <a:t>Transportadora cadastrada</a:t>
            </a:r>
          </a:p>
        </p:txBody>
      </p:sp>
      <p:sp>
        <p:nvSpPr>
          <p:cNvPr id="5" name="ou frota própria do vendedor ou do comprador.">
            <a:extLst xmlns:a="http://schemas.openxmlformats.org/drawingml/2006/main">
              <a:ext uri="{FF2B5EF4-FFF2-40B4-BE49-F238E27FC236}">
                <a16:creationId xmlns:a16="http://schemas.microsoft.com/office/drawing/2014/main" id="{5935BFF4-5F62-4937-A060-647A5BAEF325}"/>
              </a:ext>
            </a:extLst>
          </p:cNvPr>
          <p:cNvSpPr>
            <a:spLocks xmlns:a="http://schemas.openxmlformats.org/drawingml/2006/main" noGrp="1"/>
          </p:cNvSpPr>
          <p:nvPr/>
        </p:nvSpPr>
        <p:spPr>
          <a:xfrm xmlns:a="http://schemas.openxmlformats.org/drawingml/2006/main">
            <a:off x="685800" y="3914775"/>
            <a:ext cx="4667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03D30"/>
                </a:solidFill>
                <a:latin typeface="Segoe UI"/>
                <a:ea typeface="Segoe UI"/>
                <a:cs typeface="Segoe UI"/>
              </a:defRPr>
            </a:defPPr>
          </a:lstStyle>
          <a:p xmlns:a="http://schemas.openxmlformats.org/drawingml/2006/main">
            <a:pPr>
              <a:defRPr sz="2100" b="0">
                <a:solidFill>
                  <a:srgbClr val="203D30"/>
                </a:solidFill>
                <a:latin typeface="Segoe UI"/>
                <a:ea typeface="Segoe UI"/>
                <a:cs typeface="Segoe UI"/>
              </a:defRPr>
            </a:pPr>
            <a:r>
              <a:rPr sz="2100" b="0">
                <a:solidFill>
                  <a:srgbClr val="203D30"/>
                </a:solidFill>
                <a:latin typeface="Segoe UI"/>
                <a:ea typeface="Segoe UI"/>
                <a:cs typeface="Segoe UI"/>
              </a:rPr>
              <a:t>ou frota própria do vendedor ou do comprador.</a:t>
            </a:r>
          </a:p>
        </p:txBody>
      </p:sp>
      <p:sp>
        <p:nvSpPr>
          <p:cNvPr id="6" name="Uma empresa precisa estar associada antes de iniciar a ">
            <a:extLst xmlns:a="http://schemas.openxmlformats.org/drawingml/2006/main">
              <a:ext uri="{FF2B5EF4-FFF2-40B4-BE49-F238E27FC236}">
                <a16:creationId xmlns:a16="http://schemas.microsoft.com/office/drawing/2014/main" id="{695620E7-0632-4230-9DA9-4711F74525AD}"/>
              </a:ext>
            </a:extLst>
          </p:cNvPr>
          <p:cNvSpPr>
            <a:spLocks xmlns:a="http://schemas.openxmlformats.org/drawingml/2006/main" noGrp="1"/>
          </p:cNvSpPr>
          <p:nvPr/>
        </p:nvSpPr>
        <p:spPr>
          <a:xfrm xmlns:a="http://schemas.openxmlformats.org/drawingml/2006/main">
            <a:off x="685800" y="528637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C8274"/>
                </a:solidFill>
                <a:latin typeface="Segoe UI"/>
                <a:ea typeface="Segoe UI"/>
                <a:cs typeface="Segoe UI"/>
              </a:defRPr>
            </a:defPPr>
          </a:lstStyle>
          <a:p xmlns:a="http://schemas.openxmlformats.org/drawingml/2006/main">
            <a:pPr>
              <a:defRPr sz="1875" b="0">
                <a:solidFill>
                  <a:srgbClr val="6C8274"/>
                </a:solidFill>
                <a:latin typeface="Segoe UI"/>
                <a:ea typeface="Segoe UI"/>
                <a:cs typeface="Segoe UI"/>
              </a:defRPr>
            </a:pPr>
            <a:r>
              <a:rPr sz="1875" b="0">
                <a:solidFill>
                  <a:srgbClr val="6C8274"/>
                </a:solidFill>
                <a:latin typeface="Segoe UI"/>
                <a:ea typeface="Segoe UI"/>
                <a:cs typeface="Segoe UI"/>
              </a:rPr>
              <a:t>Uma empresa precisa estar associada antes de iniciar a coleta.</a:t>
            </a:r>
          </a:p>
        </p:txBody>
      </p:sp>
      <p:pic>
        <p:nvPicPr>
          <p:cNvPr id="7" name="">
            <a:extLst xmlns:a="http://schemas.openxmlformats.org/drawingml/2006/main">
              <a:ext uri="{FF2B5EF4-FFF2-40B4-BE49-F238E27FC236}">
                <a16:creationId xmlns:a16="http://schemas.microsoft.com/office/drawing/2014/main" id="{1271E46D-F61C-4FCB-A095-DF027603A0C3}"/>
              </a:ext>
            </a:extLst>
          </p:cNvPr>
          <p:cNvPicPr>
            <a:picLocks xmlns:a="http://schemas.openxmlformats.org/drawingml/2006/main" noChangeAspect="1"/>
          </p:cNvPicPr>
          <p:nvPr/>
        </p:nvPicPr>
        <p:blipFill>
          <a:blip xmlns:r="http://schemas.openxmlformats.org/officeDocument/2006/relationships" xmlns:a="http://schemas.openxmlformats.org/drawingml/2006/main" r:embed="R194241d69e514630"/>
          <a:srcRect xmlns:a="http://schemas.openxmlformats.org/drawingml/2006/main" l="18400" t="26600" r="20200" b="26600"/>
          <a:stretch xmlns:a="http://schemas.openxmlformats.org/drawingml/2006/main"/>
        </p:blipFill>
        <p:spPr>
          <a:xfrm xmlns:a="http://schemas.openxmlformats.org/drawingml/2006/main">
            <a:off x="6000750" y="1905000"/>
            <a:ext cx="5505450" cy="4048125"/>
          </a:xfrm>
          <a:prstGeom xmlns:a="http://schemas.openxmlformats.org/drawingml/2006/main" prst="rect">
            <a:avLst/>
          </a:prstGeom>
        </p:spPr>
      </p:pic>
      <p:sp>
        <p:nvSpPr>
          <p:cNvPr id="8" name="Empresa fictícia de demonstração">
            <a:extLst xmlns:a="http://schemas.openxmlformats.org/drawingml/2006/main">
              <a:ext uri="{FF2B5EF4-FFF2-40B4-BE49-F238E27FC236}">
                <a16:creationId xmlns:a16="http://schemas.microsoft.com/office/drawing/2014/main" id="{81B7B8DF-7E9C-46B0-823F-07DCF2A09E96}"/>
              </a:ext>
            </a:extLst>
          </p:cNvPr>
          <p:cNvSpPr>
            <a:spLocks xmlns:a="http://schemas.openxmlformats.org/drawingml/2006/main" noGrp="1"/>
          </p:cNvSpPr>
          <p:nvPr/>
        </p:nvSpPr>
        <p:spPr>
          <a:xfrm xmlns:a="http://schemas.openxmlformats.org/drawingml/2006/main">
            <a:off x="6477000" y="60674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C8274"/>
                </a:solidFill>
                <a:latin typeface="Segoe UI"/>
                <a:ea typeface="Segoe UI"/>
                <a:cs typeface="Segoe UI"/>
              </a:defRPr>
            </a:defPPr>
          </a:lstStyle>
          <a:p xmlns:a="http://schemas.openxmlformats.org/drawingml/2006/main">
            <a:pPr>
              <a:defRPr sz="1275" b="0">
                <a:solidFill>
                  <a:srgbClr val="6C8274"/>
                </a:solidFill>
                <a:latin typeface="Segoe UI"/>
                <a:ea typeface="Segoe UI"/>
                <a:cs typeface="Segoe UI"/>
              </a:defRPr>
            </a:pPr>
            <a:r>
              <a:rPr sz="1275" b="0">
                <a:solidFill>
                  <a:srgbClr val="6C8274"/>
                </a:solidFill>
                <a:latin typeface="Segoe UI"/>
                <a:ea typeface="Segoe UI"/>
                <a:cs typeface="Segoe UI"/>
              </a:rPr>
              <a:t>Empresa fictícia de demonstração</a:t>
            </a:r>
          </a:p>
        </p:txBody>
      </p:sp>
    </p:spTree>
    <p:extLst>
      <p:ext uri="{BB962C8B-B14F-4D97-AF65-F5344CB8AC3E}">
        <p14:creationId xmlns:p14="http://schemas.microsoft.com/office/powerpoint/2010/main" val="666169219"/>
      </p:ext>
    </p:extLst>
  </p:cSld>
</p:sld>
</file>

<file path=ppt/slides/slide6.xml><?xml version="1.0" encoding="utf-8"?>
<p:sld xmlns:p="http://schemas.openxmlformats.org/presentationml/2006/main">
  <p:cSld>
    <p:bg>
      <p:bgPr>
        <a:solidFill xmlns:a="http://schemas.openxmlformats.org/drawingml/2006/main">
          <a:srgbClr val="073C33"/>
        </a:solidFill>
      </p:bgPr>
    </p:bg>
    <p:spTree>
      <p:nvGrpSpPr>
        <p:cNvPr id="1" name=""/>
        <p:cNvGrpSpPr/>
        <p:nvPr/>
      </p:nvGrpSpPr>
      <p:grpSpPr>
        <a:xfrm xmlns:a="http://schemas.openxmlformats.org/drawingml/2006/main"/>
      </p:grpSpPr>
      <p:sp>
        <p:nvSpPr>
          <p:cNvPr id="7" name="Piloto com empresas da região">
            <a:extLst xmlns:a="http://schemas.openxmlformats.org/drawingml/2006/main">
              <a:ext uri="{FF2B5EF4-FFF2-40B4-BE49-F238E27FC236}">
                <a16:creationId xmlns:a16="http://schemas.microsoft.com/office/drawing/2014/main" id="{EE7EC7D5-02DC-415F-918B-71ACDEB78C60}"/>
              </a:ext>
            </a:extLst>
          </p:cNvPr>
          <p:cNvSpPr>
            <a:spLocks xmlns:a="http://schemas.openxmlformats.org/drawingml/2006/main" noGrp="1"/>
          </p:cNvSpPr>
          <p:nvPr/>
        </p:nvSpPr>
        <p:spPr>
          <a:xfrm xmlns:a="http://schemas.openxmlformats.org/drawingml/2006/main">
            <a:off x="685800" y="55245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Segoe UI"/>
                <a:ea typeface="Segoe UI"/>
                <a:cs typeface="Segoe UI"/>
              </a:defRPr>
            </a:defPPr>
          </a:lstStyle>
          <a:p xmlns:a="http://schemas.openxmlformats.org/drawingml/2006/main">
            <a:pPr>
              <a:defRPr sz="3300" b="1">
                <a:solidFill>
                  <a:srgbClr val="FFFFFF"/>
                </a:solidFill>
                <a:latin typeface="Segoe UI"/>
                <a:ea typeface="Segoe UI"/>
                <a:cs typeface="Segoe UI"/>
              </a:defRPr>
            </a:pPr>
            <a:r>
              <a:rPr sz="3300" b="1">
                <a:solidFill>
                  <a:srgbClr val="FFFFFF"/>
                </a:solidFill>
                <a:latin typeface="Segoe UI"/>
                <a:ea typeface="Segoe UI"/>
                <a:cs typeface="Segoe UI"/>
              </a:rPr>
              <a:t>Piloto com empresas da região</a:t>
            </a:r>
          </a:p>
        </p:txBody>
      </p:sp>
      <p:sp>
        <p:nvSpPr>
          <p:cNvPr id="2" name="6 / 6">
            <a:extLst xmlns:a="http://schemas.openxmlformats.org/drawingml/2006/main">
              <a:ext uri="{FF2B5EF4-FFF2-40B4-BE49-F238E27FC236}">
                <a16:creationId xmlns:a16="http://schemas.microsoft.com/office/drawing/2014/main" id="{2C012802-05D0-4B99-8187-7B90DDADF11D}"/>
              </a:ext>
            </a:extLst>
          </p:cNvPr>
          <p:cNvSpPr>
            <a:spLocks xmlns:a="http://schemas.openxmlformats.org/drawingml/2006/main" noGrp="1"/>
          </p:cNvSpPr>
          <p:nvPr/>
        </p:nvSpPr>
        <p:spPr>
          <a:xfrm xmlns:a="http://schemas.openxmlformats.org/drawingml/2006/main">
            <a:off x="10763250" y="6381750"/>
            <a:ext cx="742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A8CDBA"/>
                </a:solidFill>
                <a:latin typeface="Segoe UI"/>
                <a:ea typeface="Segoe UI"/>
                <a:cs typeface="Segoe UI"/>
              </a:defRPr>
            </a:defPPr>
          </a:lstStyle>
          <a:p xmlns:a="http://schemas.openxmlformats.org/drawingml/2006/main">
            <a:pPr>
              <a:defRPr sz="1275" b="0">
                <a:solidFill>
                  <a:srgbClr val="A8CDBA"/>
                </a:solidFill>
                <a:latin typeface="Segoe UI"/>
                <a:ea typeface="Segoe UI"/>
                <a:cs typeface="Segoe UI"/>
              </a:defRPr>
            </a:pPr>
            <a:r>
              <a:rPr sz="1275" b="0">
                <a:solidFill>
                  <a:srgbClr val="A8CDBA"/>
                </a:solidFill>
                <a:latin typeface="Segoe UI"/>
                <a:ea typeface="Segoe UI"/>
                <a:cs typeface="Segoe UI"/>
              </a:rPr>
              <a:t>6 / 6</a:t>
            </a:r>
          </a:p>
        </p:txBody>
      </p:sp>
      <p:sp>
        <p:nvSpPr>
          <p:cNvPr id="3" name="O protótipo está pronto&#10;para uma demonstração.">
            <a:extLst xmlns:a="http://schemas.openxmlformats.org/drawingml/2006/main">
              <a:ext uri="{FF2B5EF4-FFF2-40B4-BE49-F238E27FC236}">
                <a16:creationId xmlns:a16="http://schemas.microsoft.com/office/drawing/2014/main" id="{95C2D1EC-A03B-4E50-8E5D-940AAC975887}"/>
              </a:ext>
            </a:extLst>
          </p:cNvPr>
          <p:cNvSpPr>
            <a:spLocks xmlns:a="http://schemas.openxmlformats.org/drawingml/2006/main" noGrp="1"/>
          </p:cNvSpPr>
          <p:nvPr/>
        </p:nvSpPr>
        <p:spPr>
          <a:xfrm xmlns:a="http://schemas.openxmlformats.org/drawingml/2006/main">
            <a:off x="685800" y="1809750"/>
            <a:ext cx="1019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79D9B0"/>
                </a:solidFill>
                <a:latin typeface="Segoe UI"/>
                <a:ea typeface="Segoe UI"/>
                <a:cs typeface="Segoe UI"/>
              </a:defRPr>
            </a:defPPr>
          </a:lstStyle>
          <a:p xmlns:a="http://schemas.openxmlformats.org/drawingml/2006/main">
            <a:pPr>
              <a:defRPr sz="3450" b="1">
                <a:solidFill>
                  <a:srgbClr val="79D9B0"/>
                </a:solidFill>
                <a:latin typeface="Segoe UI"/>
                <a:ea typeface="Segoe UI"/>
                <a:cs typeface="Segoe UI"/>
              </a:defRPr>
            </a:pPr>
            <a:r>
              <a:rPr sz="3450" b="1">
                <a:solidFill>
                  <a:srgbClr val="79D9B0"/>
                </a:solidFill>
                <a:latin typeface="Segoe UI"/>
                <a:ea typeface="Segoe UI"/>
                <a:cs typeface="Segoe UI"/>
              </a:rPr>
              <a:t>O protótipo está pronto</a:t>
            </a:r>
          </a:p>
          <a:p xmlns:a="http://schemas.openxmlformats.org/drawingml/2006/main">
            <a:pPr>
              <a:defRPr sz="3450" b="1">
                <a:solidFill>
                  <a:srgbClr val="79D9B0"/>
                </a:solidFill>
                <a:latin typeface="Segoe UI"/>
                <a:ea typeface="Segoe UI"/>
                <a:cs typeface="Segoe UI"/>
              </a:defRPr>
            </a:pPr>
            <a:r>
              <a:rPr sz="3450" b="1">
                <a:solidFill>
                  <a:srgbClr val="79D9B0"/>
                </a:solidFill>
                <a:latin typeface="Segoe UI"/>
                <a:ea typeface="Segoe UI"/>
                <a:cs typeface="Segoe UI"/>
              </a:rPr>
              <a:t>para uma demonstração.</a:t>
            </a:r>
          </a:p>
        </p:txBody>
      </p:sp>
      <p:sp>
        <p:nvSpPr>
          <p:cNvPr id="4" name="O próximo passo é validar fotos de lotes reais com espe">
            <a:extLst xmlns:a="http://schemas.openxmlformats.org/drawingml/2006/main">
              <a:ext uri="{FF2B5EF4-FFF2-40B4-BE49-F238E27FC236}">
                <a16:creationId xmlns:a16="http://schemas.microsoft.com/office/drawing/2014/main" id="{EC14349E-D6BD-4828-958E-48F961C7F90C}"/>
              </a:ext>
            </a:extLst>
          </p:cNvPr>
          <p:cNvSpPr>
            <a:spLocks xmlns:a="http://schemas.openxmlformats.org/drawingml/2006/main" noGrp="1"/>
          </p:cNvSpPr>
          <p:nvPr/>
        </p:nvSpPr>
        <p:spPr>
          <a:xfrm xmlns:a="http://schemas.openxmlformats.org/drawingml/2006/main">
            <a:off x="685800" y="3381375"/>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Segoe UI"/>
                <a:ea typeface="Segoe UI"/>
                <a:cs typeface="Segoe UI"/>
              </a:defRPr>
            </a:defPPr>
          </a:lstStyle>
          <a:p xmlns:a="http://schemas.openxmlformats.org/drawingml/2006/main">
            <a:pPr>
              <a:defRPr sz="2250" b="0">
                <a:solidFill>
                  <a:srgbClr val="FFFFFF"/>
                </a:solidFill>
                <a:latin typeface="Segoe UI"/>
                <a:ea typeface="Segoe UI"/>
                <a:cs typeface="Segoe UI"/>
              </a:defRPr>
            </a:pPr>
            <a:r>
              <a:rPr sz="2250" b="0">
                <a:solidFill>
                  <a:srgbClr val="FFFFFF"/>
                </a:solidFill>
                <a:latin typeface="Segoe UI"/>
                <a:ea typeface="Segoe UI"/>
                <a:cs typeface="Segoe UI"/>
              </a:rPr>
              <a:t>O próximo passo é validar fotos de lotes reais com especialistas e observar as negociações em campo.</a:t>
            </a:r>
          </a:p>
        </p:txBody>
      </p:sp>
      <p:sp>
        <p:nvSpPr>
          <p:cNvPr id="5" name="Medidas propostas para o piloto">
            <a:extLst xmlns:a="http://schemas.openxmlformats.org/drawingml/2006/main">
              <a:ext uri="{FF2B5EF4-FFF2-40B4-BE49-F238E27FC236}">
                <a16:creationId xmlns:a16="http://schemas.microsoft.com/office/drawing/2014/main" id="{14814597-17D7-4D52-BFC1-2BF6D0889C7B}"/>
              </a:ext>
            </a:extLst>
          </p:cNvPr>
          <p:cNvSpPr>
            <a:spLocks xmlns:a="http://schemas.openxmlformats.org/drawingml/2006/main" noGrp="1"/>
          </p:cNvSpPr>
          <p:nvPr/>
        </p:nvSpPr>
        <p:spPr>
          <a:xfrm xmlns:a="http://schemas.openxmlformats.org/drawingml/2006/main">
            <a:off x="685800" y="47625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9D9B0"/>
                </a:solidFill>
                <a:latin typeface="Segoe UI"/>
                <a:ea typeface="Segoe UI"/>
                <a:cs typeface="Segoe UI"/>
              </a:defRPr>
            </a:defPPr>
          </a:lstStyle>
          <a:p xmlns:a="http://schemas.openxmlformats.org/drawingml/2006/main">
            <a:pPr>
              <a:defRPr sz="2025" b="1">
                <a:solidFill>
                  <a:srgbClr val="79D9B0"/>
                </a:solidFill>
                <a:latin typeface="Segoe UI"/>
                <a:ea typeface="Segoe UI"/>
                <a:cs typeface="Segoe UI"/>
              </a:defRPr>
            </a:pPr>
            <a:r>
              <a:rPr sz="2025" b="1">
                <a:solidFill>
                  <a:srgbClr val="79D9B0"/>
                </a:solidFill>
                <a:latin typeface="Segoe UI"/>
                <a:ea typeface="Segoe UI"/>
                <a:cs typeface="Segoe UI"/>
              </a:rPr>
              <a:t>Medidas propostas para o piloto</a:t>
            </a:r>
          </a:p>
        </p:txBody>
      </p:sp>
      <p:sp>
        <p:nvSpPr>
          <p:cNvPr id="6" name="Tempo até a primeira proposta&#10;Volume negociado e coleta">
            <a:extLst xmlns:a="http://schemas.openxmlformats.org/drawingml/2006/main">
              <a:ext uri="{FF2B5EF4-FFF2-40B4-BE49-F238E27FC236}">
                <a16:creationId xmlns:a16="http://schemas.microsoft.com/office/drawing/2014/main" id="{03DB3498-9A60-45B4-8E69-D0CE7DEECBC0}"/>
              </a:ext>
            </a:extLst>
          </p:cNvPr>
          <p:cNvSpPr>
            <a:spLocks xmlns:a="http://schemas.openxmlformats.org/drawingml/2006/main" noGrp="1"/>
          </p:cNvSpPr>
          <p:nvPr/>
        </p:nvSpPr>
        <p:spPr>
          <a:xfrm xmlns:a="http://schemas.openxmlformats.org/drawingml/2006/main">
            <a:off x="685800" y="5334000"/>
            <a:ext cx="9810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1E4D9"/>
                </a:solidFill>
                <a:latin typeface="Segoe UI"/>
                <a:ea typeface="Segoe UI"/>
                <a:cs typeface="Segoe UI"/>
              </a:defRPr>
            </a:defPPr>
          </a:lstStyle>
          <a:p xmlns:a="http://schemas.openxmlformats.org/drawingml/2006/main">
            <a:pPr>
              <a:defRPr sz="2100" b="0">
                <a:solidFill>
                  <a:srgbClr val="D1E4D9"/>
                </a:solidFill>
                <a:latin typeface="Segoe UI"/>
                <a:ea typeface="Segoe UI"/>
                <a:cs typeface="Segoe UI"/>
              </a:defRPr>
            </a:pPr>
            <a:r>
              <a:rPr sz="2100" b="0">
                <a:solidFill>
                  <a:srgbClr val="D1E4D9"/>
                </a:solidFill>
                <a:latin typeface="Segoe UI"/>
                <a:ea typeface="Segoe UI"/>
                <a:cs typeface="Segoe UI"/>
              </a:rPr>
              <a:t>Tempo até a primeira proposta</a:t>
            </a:r>
          </a:p>
          <a:p xmlns:a="http://schemas.openxmlformats.org/drawingml/2006/main">
            <a:pPr>
              <a:defRPr sz="2100" b="0">
                <a:solidFill>
                  <a:srgbClr val="D1E4D9"/>
                </a:solidFill>
                <a:latin typeface="Segoe UI"/>
                <a:ea typeface="Segoe UI"/>
                <a:cs typeface="Segoe UI"/>
              </a:defRPr>
            </a:pPr>
            <a:r>
              <a:rPr sz="2100" b="0">
                <a:solidFill>
                  <a:srgbClr val="D1E4D9"/>
                </a:solidFill>
                <a:latin typeface="Segoe UI"/>
                <a:ea typeface="Segoe UI"/>
                <a:cs typeface="Segoe UI"/>
              </a:rPr>
              <a:t>Volume negociado e coletas concluídas</a:t>
            </a:r>
          </a:p>
        </p:txBody>
      </p:sp>
    </p:spTree>
    <p:extLst>
      <p:ext uri="{BB962C8B-B14F-4D97-AF65-F5344CB8AC3E}">
        <p14:creationId xmlns:p14="http://schemas.microsoft.com/office/powerpoint/2010/main" val="7240001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2026-10-15T00:23:50.1230000Z</dcterms:created>
  <dcterms:modified xsi:type="dcterms:W3CDTF">2026-10-15T00:23:50.1230000Z</dcterms:modified>
</coreProperties>
</file>